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82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8288000" cy="10287000"/>
  <p:notesSz cx="6858000" cy="9144000"/>
  <p:embeddedFontLst>
    <p:embeddedFont>
      <p:font typeface="Agrandir Bold" panose="020B0604020202020204" charset="0"/>
      <p:regular r:id="rId29"/>
    </p:embeddedFont>
    <p:embeddedFont>
      <p:font typeface="Calibri (MS)" panose="020B0604020202020204" charset="0"/>
      <p:regular r:id="rId30"/>
    </p:embeddedFont>
    <p:embeddedFont>
      <p:font typeface="Calibri (MS) Bold" panose="020B0604020202020204" charset="0"/>
      <p:regular r:id="rId31"/>
    </p:embeddedFont>
    <p:embeddedFont>
      <p:font typeface="Calibri (MS) Italics" panose="020B0604020202020204" charset="0"/>
      <p:regular r:id="rId32"/>
    </p:embeddedFont>
    <p:embeddedFont>
      <p:font typeface="Consolas" panose="020B0609020204030204" pitchFamily="49" charset="0"/>
      <p:regular r:id="rId33"/>
      <p:bold r:id="rId34"/>
      <p:italic r:id="rId35"/>
      <p:boldItalic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4274" y="845820"/>
            <a:ext cx="219456" cy="3108960"/>
            <a:chOff x="0" y="0"/>
            <a:chExt cx="292608" cy="41452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2608" cy="4145280"/>
            </a:xfrm>
            <a:custGeom>
              <a:avLst/>
              <a:gdLst/>
              <a:ahLst/>
              <a:cxnLst/>
              <a:rect l="l" t="t" r="r" b="b"/>
              <a:pathLst>
                <a:path w="292608" h="4145280">
                  <a:moveTo>
                    <a:pt x="0" y="0"/>
                  </a:moveTo>
                  <a:lnTo>
                    <a:pt x="292608" y="0"/>
                  </a:lnTo>
                  <a:lnTo>
                    <a:pt x="292608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14B8A6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737360" y="847725"/>
            <a:ext cx="15179040" cy="292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0B1F3A"/>
                </a:solidFill>
                <a:latin typeface="Agrandir Bold"/>
                <a:ea typeface="Agrandir Bold"/>
                <a:cs typeface="Agrandir Bold"/>
                <a:sym typeface="Agrandir Bold"/>
              </a:rPr>
              <a:t>Design and Implementation of a 16-Bit ALU with OLED Display on the Zybo Z7 FPGA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403730" y="5143500"/>
            <a:ext cx="15179040" cy="731520"/>
            <a:chOff x="0" y="0"/>
            <a:chExt cx="20238720" cy="9753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238720" cy="975360"/>
            </a:xfrm>
            <a:custGeom>
              <a:avLst/>
              <a:gdLst/>
              <a:ahLst/>
              <a:cxnLst/>
              <a:rect l="l" t="t" r="r" b="b"/>
              <a:pathLst>
                <a:path w="20238720" h="975360">
                  <a:moveTo>
                    <a:pt x="0" y="0"/>
                  </a:moveTo>
                  <a:lnTo>
                    <a:pt x="20238720" y="0"/>
                  </a:lnTo>
                  <a:lnTo>
                    <a:pt x="202387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54314" b="-354314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20238720" cy="10420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dirty="0">
                  <a:solidFill>
                    <a:srgbClr val="1800A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23ECE383 VLSI Design Laboratory  |  ECE B  |  TEAM 7 | 2026-27 Odd Semester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454630" y="6447796"/>
            <a:ext cx="15179040" cy="132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dirty="0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Bollavaram Sankirth (CB.EN.U4ECE24107)</a:t>
            </a:r>
          </a:p>
          <a:p>
            <a:pPr algn="l">
              <a:lnSpc>
                <a:spcPts val="3359"/>
              </a:lnSpc>
            </a:pPr>
            <a:r>
              <a:rPr lang="en-US" sz="2799" dirty="0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Darbarwar Abhiram (CB.EN.U4ECE24112)</a:t>
            </a:r>
          </a:p>
          <a:p>
            <a:pPr algn="l">
              <a:lnSpc>
                <a:spcPts val="3359"/>
              </a:lnSpc>
            </a:pPr>
            <a:r>
              <a:rPr lang="en-US" sz="2799" dirty="0" err="1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Kotakota</a:t>
            </a:r>
            <a:r>
              <a:rPr lang="en-US" sz="2799" dirty="0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 Sai Srivanth (CB.EN.U4ECE24131)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219456"/>
            <a:ext cx="16459200" cy="1207008"/>
            <a:chOff x="0" y="0"/>
            <a:chExt cx="21945600" cy="16093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5705" b="-21570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21945600" cy="17331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39"/>
                </a:lnSpc>
              </a:pPr>
              <a:r>
                <a:rPr lang="en-US" sz="5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Overview and Objectives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05840" y="2183130"/>
            <a:ext cx="16276320" cy="7098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2161" lvl="1" indent="-386080" algn="l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An ALU is the core computational block of a CPU: a combinational circuit that performs arithmetic and logic on A and B, selected by an opcode</a:t>
            </a:r>
          </a:p>
          <a:p>
            <a:pPr marL="772161" lvl="1" indent="-386080" algn="l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Our 16-bit ALU supports 16 operations: unsigned and signed arithmetic, logic, shifts and rotates</a:t>
            </a:r>
          </a:p>
          <a:p>
            <a:pPr marL="772161" lvl="1" indent="-386080" algn="l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Status flags: Zero, Carry, Overflow, Negative</a:t>
            </a:r>
          </a:p>
          <a:p>
            <a:pPr marL="772161" lvl="1" indent="-386080" algn="l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Verilog design, simulated and synthesized in Vivado, verified on hardware</a:t>
            </a:r>
          </a:p>
          <a:p>
            <a:pPr marL="772161" lvl="1" indent="-386080" algn="l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Inputs from Pmod keypad and switches; results on a Pmod OLED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219456"/>
            <a:ext cx="16459200" cy="1207008"/>
            <a:chOff x="0" y="0"/>
            <a:chExt cx="21945600" cy="16093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5705" b="-21570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21945600" cy="17331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39"/>
                </a:lnSpc>
              </a:pPr>
              <a:r>
                <a:rPr lang="en-US" sz="5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Architecture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31520" y="2926080"/>
            <a:ext cx="3291840" cy="2011680"/>
            <a:chOff x="0" y="0"/>
            <a:chExt cx="4389120" cy="26822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89120" cy="2682240"/>
            </a:xfrm>
            <a:custGeom>
              <a:avLst/>
              <a:gdLst/>
              <a:ahLst/>
              <a:cxnLst/>
              <a:rect l="l" t="t" r="r" b="b"/>
              <a:pathLst>
                <a:path w="4389120" h="268224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145280" y="0"/>
                  </a:lnTo>
                  <a:cubicBezTo>
                    <a:pt x="4279900" y="0"/>
                    <a:pt x="4389120" y="109220"/>
                    <a:pt x="4389120" y="243840"/>
                  </a:cubicBezTo>
                  <a:lnTo>
                    <a:pt x="4389120" y="2438400"/>
                  </a:lnTo>
                  <a:cubicBezTo>
                    <a:pt x="4389120" y="2573020"/>
                    <a:pt x="4279900" y="2682240"/>
                    <a:pt x="4145280" y="2682240"/>
                  </a:cubicBezTo>
                  <a:lnTo>
                    <a:pt x="243840" y="2682240"/>
                  </a:lnTo>
                  <a:cubicBezTo>
                    <a:pt x="109220" y="2682240"/>
                    <a:pt x="0" y="2573020"/>
                    <a:pt x="0" y="2438400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731520" y="2926080"/>
            <a:ext cx="3291840" cy="2011680"/>
            <a:chOff x="0" y="0"/>
            <a:chExt cx="4389120" cy="26822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389120" cy="2682240"/>
            </a:xfrm>
            <a:custGeom>
              <a:avLst/>
              <a:gdLst/>
              <a:ahLst/>
              <a:cxnLst/>
              <a:rect l="l" t="t" r="r" b="b"/>
              <a:pathLst>
                <a:path w="4389120" h="2682240">
                  <a:moveTo>
                    <a:pt x="0" y="0"/>
                  </a:moveTo>
                  <a:lnTo>
                    <a:pt x="4389120" y="0"/>
                  </a:lnTo>
                  <a:lnTo>
                    <a:pt x="438912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8407" r="-28407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4389120" cy="27489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Pmod KYPD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(hex entry)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114800" y="3621024"/>
            <a:ext cx="1097280" cy="640080"/>
            <a:chOff x="0" y="0"/>
            <a:chExt cx="1463040" cy="8534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63040" cy="853440"/>
            </a:xfrm>
            <a:custGeom>
              <a:avLst/>
              <a:gdLst/>
              <a:ahLst/>
              <a:cxnLst/>
              <a:rect l="l" t="t" r="r" b="b"/>
              <a:pathLst>
                <a:path w="1463040" h="853440">
                  <a:moveTo>
                    <a:pt x="0" y="213360"/>
                  </a:moveTo>
                  <a:lnTo>
                    <a:pt x="1036320" y="213360"/>
                  </a:lnTo>
                  <a:lnTo>
                    <a:pt x="1036320" y="0"/>
                  </a:lnTo>
                  <a:lnTo>
                    <a:pt x="1463040" y="426720"/>
                  </a:lnTo>
                  <a:lnTo>
                    <a:pt x="1036320" y="853440"/>
                  </a:lnTo>
                  <a:lnTo>
                    <a:pt x="1036320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475569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5303520" y="2926080"/>
            <a:ext cx="3291840" cy="2011680"/>
            <a:chOff x="0" y="0"/>
            <a:chExt cx="4389120" cy="26822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389120" cy="2682240"/>
            </a:xfrm>
            <a:custGeom>
              <a:avLst/>
              <a:gdLst/>
              <a:ahLst/>
              <a:cxnLst/>
              <a:rect l="l" t="t" r="r" b="b"/>
              <a:pathLst>
                <a:path w="4389120" h="268224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145280" y="0"/>
                  </a:lnTo>
                  <a:cubicBezTo>
                    <a:pt x="4279900" y="0"/>
                    <a:pt x="4389120" y="109220"/>
                    <a:pt x="4389120" y="243840"/>
                  </a:cubicBezTo>
                  <a:lnTo>
                    <a:pt x="4389120" y="2438400"/>
                  </a:lnTo>
                  <a:cubicBezTo>
                    <a:pt x="4389120" y="2573020"/>
                    <a:pt x="4279900" y="2682240"/>
                    <a:pt x="4145280" y="2682240"/>
                  </a:cubicBezTo>
                  <a:lnTo>
                    <a:pt x="243840" y="2682240"/>
                  </a:lnTo>
                  <a:cubicBezTo>
                    <a:pt x="109220" y="2682240"/>
                    <a:pt x="0" y="2573020"/>
                    <a:pt x="0" y="2438400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5303520" y="2926080"/>
            <a:ext cx="3291840" cy="2011680"/>
            <a:chOff x="0" y="0"/>
            <a:chExt cx="4389120" cy="26822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389120" cy="2682240"/>
            </a:xfrm>
            <a:custGeom>
              <a:avLst/>
              <a:gdLst/>
              <a:ahLst/>
              <a:cxnLst/>
              <a:rect l="l" t="t" r="r" b="b"/>
              <a:pathLst>
                <a:path w="4389120" h="2682240">
                  <a:moveTo>
                    <a:pt x="0" y="0"/>
                  </a:moveTo>
                  <a:lnTo>
                    <a:pt x="4389120" y="0"/>
                  </a:lnTo>
                  <a:lnTo>
                    <a:pt x="438912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8407" r="-28407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4389120" cy="27489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Input Registers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 and B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686800" y="3621024"/>
            <a:ext cx="1097280" cy="640080"/>
            <a:chOff x="0" y="0"/>
            <a:chExt cx="1463040" cy="8534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63040" cy="853440"/>
            </a:xfrm>
            <a:custGeom>
              <a:avLst/>
              <a:gdLst/>
              <a:ahLst/>
              <a:cxnLst/>
              <a:rect l="l" t="t" r="r" b="b"/>
              <a:pathLst>
                <a:path w="1463040" h="853440">
                  <a:moveTo>
                    <a:pt x="0" y="213360"/>
                  </a:moveTo>
                  <a:lnTo>
                    <a:pt x="1036320" y="213360"/>
                  </a:lnTo>
                  <a:lnTo>
                    <a:pt x="1036320" y="0"/>
                  </a:lnTo>
                  <a:lnTo>
                    <a:pt x="1463040" y="426720"/>
                  </a:lnTo>
                  <a:lnTo>
                    <a:pt x="1036320" y="853440"/>
                  </a:lnTo>
                  <a:lnTo>
                    <a:pt x="1036320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475569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9875520" y="2926080"/>
            <a:ext cx="3291840" cy="2011680"/>
            <a:chOff x="0" y="0"/>
            <a:chExt cx="4389120" cy="268224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389120" cy="2682240"/>
            </a:xfrm>
            <a:custGeom>
              <a:avLst/>
              <a:gdLst/>
              <a:ahLst/>
              <a:cxnLst/>
              <a:rect l="l" t="t" r="r" b="b"/>
              <a:pathLst>
                <a:path w="4389120" h="268224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145280" y="0"/>
                  </a:lnTo>
                  <a:cubicBezTo>
                    <a:pt x="4279900" y="0"/>
                    <a:pt x="4389120" y="109220"/>
                    <a:pt x="4389120" y="243840"/>
                  </a:cubicBezTo>
                  <a:lnTo>
                    <a:pt x="4389120" y="2438400"/>
                  </a:lnTo>
                  <a:cubicBezTo>
                    <a:pt x="4389120" y="2573020"/>
                    <a:pt x="4279900" y="2682240"/>
                    <a:pt x="4145280" y="2682240"/>
                  </a:cubicBezTo>
                  <a:lnTo>
                    <a:pt x="243840" y="2682240"/>
                  </a:lnTo>
                  <a:cubicBezTo>
                    <a:pt x="109220" y="2682240"/>
                    <a:pt x="0" y="2573020"/>
                    <a:pt x="0" y="2438400"/>
                  </a:cubicBez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9875520" y="2926080"/>
            <a:ext cx="3291840" cy="2011680"/>
            <a:chOff x="0" y="0"/>
            <a:chExt cx="4389120" cy="268224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389120" cy="2682240"/>
            </a:xfrm>
            <a:custGeom>
              <a:avLst/>
              <a:gdLst/>
              <a:ahLst/>
              <a:cxnLst/>
              <a:rect l="l" t="t" r="r" b="b"/>
              <a:pathLst>
                <a:path w="4389120" h="2682240">
                  <a:moveTo>
                    <a:pt x="0" y="0"/>
                  </a:moveTo>
                  <a:lnTo>
                    <a:pt x="4389120" y="0"/>
                  </a:lnTo>
                  <a:lnTo>
                    <a:pt x="438912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8407" r="-28407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66675"/>
              <a:ext cx="4389120" cy="27489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16-bit ALU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(opcode select)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258800" y="3621024"/>
            <a:ext cx="1097280" cy="640080"/>
            <a:chOff x="0" y="0"/>
            <a:chExt cx="1463040" cy="85344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463040" cy="853440"/>
            </a:xfrm>
            <a:custGeom>
              <a:avLst/>
              <a:gdLst/>
              <a:ahLst/>
              <a:cxnLst/>
              <a:rect l="l" t="t" r="r" b="b"/>
              <a:pathLst>
                <a:path w="1463040" h="853440">
                  <a:moveTo>
                    <a:pt x="0" y="213360"/>
                  </a:moveTo>
                  <a:lnTo>
                    <a:pt x="1036320" y="213360"/>
                  </a:lnTo>
                  <a:lnTo>
                    <a:pt x="1036320" y="0"/>
                  </a:lnTo>
                  <a:lnTo>
                    <a:pt x="1463040" y="426720"/>
                  </a:lnTo>
                  <a:lnTo>
                    <a:pt x="1036320" y="853440"/>
                  </a:lnTo>
                  <a:lnTo>
                    <a:pt x="1036320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475569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4447520" y="2926080"/>
            <a:ext cx="3291840" cy="2011680"/>
            <a:chOff x="0" y="0"/>
            <a:chExt cx="4389120" cy="26822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389120" cy="2682240"/>
            </a:xfrm>
            <a:custGeom>
              <a:avLst/>
              <a:gdLst/>
              <a:ahLst/>
              <a:cxnLst/>
              <a:rect l="l" t="t" r="r" b="b"/>
              <a:pathLst>
                <a:path w="4389120" h="268224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4145280" y="0"/>
                  </a:lnTo>
                  <a:cubicBezTo>
                    <a:pt x="4279900" y="0"/>
                    <a:pt x="4389120" y="109220"/>
                    <a:pt x="4389120" y="243840"/>
                  </a:cubicBezTo>
                  <a:lnTo>
                    <a:pt x="4389120" y="2438400"/>
                  </a:lnTo>
                  <a:cubicBezTo>
                    <a:pt x="4389120" y="2573020"/>
                    <a:pt x="4279900" y="2682240"/>
                    <a:pt x="4145280" y="2682240"/>
                  </a:cubicBezTo>
                  <a:lnTo>
                    <a:pt x="243840" y="2682240"/>
                  </a:lnTo>
                  <a:cubicBezTo>
                    <a:pt x="109220" y="2682240"/>
                    <a:pt x="0" y="2573020"/>
                    <a:pt x="0" y="2438400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4447520" y="2926080"/>
            <a:ext cx="3291840" cy="2011680"/>
            <a:chOff x="0" y="0"/>
            <a:chExt cx="4389120" cy="268224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389120" cy="2682240"/>
            </a:xfrm>
            <a:custGeom>
              <a:avLst/>
              <a:gdLst/>
              <a:ahLst/>
              <a:cxnLst/>
              <a:rect l="l" t="t" r="r" b="b"/>
              <a:pathLst>
                <a:path w="4389120" h="2682240">
                  <a:moveTo>
                    <a:pt x="0" y="0"/>
                  </a:moveTo>
                  <a:lnTo>
                    <a:pt x="4389120" y="0"/>
                  </a:lnTo>
                  <a:lnTo>
                    <a:pt x="438912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8407" r="-28407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66675"/>
              <a:ext cx="4389120" cy="27489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OLED Controller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(SSD1306, SPI)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14400" y="5669280"/>
            <a:ext cx="16459200" cy="914400"/>
            <a:chOff x="0" y="0"/>
            <a:chExt cx="21945600" cy="12192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945600" cy="1219200"/>
            </a:xfrm>
            <a:custGeom>
              <a:avLst/>
              <a:gdLst/>
              <a:ahLst/>
              <a:cxnLst/>
              <a:rect l="l" t="t" r="r" b="b"/>
              <a:pathLst>
                <a:path w="21945600" h="12192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00730" b="-300730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66675"/>
              <a:ext cx="21945600" cy="1285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Control: 4 onboard switches = opcode;  Pmod switch 1 = reset input;  Pmod switch 2 = select A (0) or B (1)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005840" y="6745605"/>
            <a:ext cx="16276320" cy="132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Keypad scanner: debounced 4x4 scan, one key_valid pulse per press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OLED shows A, B, Y (decimal and hex), operation name and flags Z C V N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Whole design runs on the 125 MHz system clock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219456"/>
            <a:ext cx="16459200" cy="1207008"/>
            <a:chOff x="0" y="0"/>
            <a:chExt cx="21945600" cy="16093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5705" b="-21570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21945600" cy="17331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39"/>
                </a:lnSpc>
              </a:pPr>
              <a:r>
                <a:rPr lang="en-US" sz="5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Opcode Table (ALU_Sel)</a:t>
              </a:r>
            </a:p>
          </p:txBody>
        </p:sp>
      </p:grp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731520" y="2194560"/>
          <a:ext cx="8102600" cy="6400800"/>
        </p:xfrm>
        <a:graphic>
          <a:graphicData uri="http://schemas.openxmlformats.org/drawingml/2006/table">
            <a:tbl>
              <a:tblPr/>
              <a:tblGrid>
                <a:gridCol w="14681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2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1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Opcode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Operation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Function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0000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Unsigned ADD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 + B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0001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Unsigned SUB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 - B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0010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Unsigned MUL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 x B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0011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Unsigned DIV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 / B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0100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AND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 &amp; B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0101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OR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 | B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0110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XOR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 ^ B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0111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NOT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~A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9418320" y="2194560"/>
          <a:ext cx="8102600" cy="6400800"/>
        </p:xfrm>
        <a:graphic>
          <a:graphicData uri="http://schemas.openxmlformats.org/drawingml/2006/table">
            <a:tbl>
              <a:tblPr/>
              <a:tblGrid>
                <a:gridCol w="14681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2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1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Opcode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Operation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Function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Signed ADD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 + B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1001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Signed SUB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 - B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1010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Signed MUL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 x B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1011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Signed DIV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 / B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1100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Shift Left (LSL)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 &lt;&lt; B[3:0]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1101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Shift Right (LSR)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 &gt;&gt; B[3:0]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1110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Rotate Left (ROL)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rotl A by B[3:0]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1111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Rotate Right (ROR)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rotr A by B[3:0]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9" name="Group 9"/>
          <p:cNvGrpSpPr/>
          <p:nvPr/>
        </p:nvGrpSpPr>
        <p:grpSpPr>
          <a:xfrm>
            <a:off x="731520" y="8961120"/>
            <a:ext cx="16459200" cy="731520"/>
            <a:chOff x="0" y="0"/>
            <a:chExt cx="21945600" cy="9753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45600" cy="975360"/>
            </a:xfrm>
            <a:custGeom>
              <a:avLst/>
              <a:gdLst/>
              <a:ahLst/>
              <a:cxnLst/>
              <a:rect l="l" t="t" r="r" b="b"/>
              <a:pathLst>
                <a:path w="21945600" h="97536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88413" b="-388413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21945600" cy="1032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i="1">
                  <a:solidFill>
                    <a:srgbClr val="47556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Shift and rotate amount = lower 4 bits of B (0 to 15)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219456"/>
            <a:ext cx="16459200" cy="1207008"/>
            <a:chOff x="0" y="0"/>
            <a:chExt cx="21945600" cy="16093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5705" b="-21570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21945600" cy="17331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39"/>
                </a:lnSpc>
              </a:pPr>
              <a:r>
                <a:rPr lang="en-US" sz="5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Status Flags and Edge Cases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04875" y="2185035"/>
            <a:ext cx="8065770" cy="2030730"/>
            <a:chOff x="0" y="0"/>
            <a:chExt cx="10754360" cy="27076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754360" cy="2707640"/>
            </a:xfrm>
            <a:custGeom>
              <a:avLst/>
              <a:gdLst/>
              <a:ahLst/>
              <a:cxnLst/>
              <a:rect l="l" t="t" r="r" b="b"/>
              <a:pathLst>
                <a:path w="10754360" h="2707640">
                  <a:moveTo>
                    <a:pt x="0" y="0"/>
                  </a:moveTo>
                  <a:lnTo>
                    <a:pt x="10754360" y="0"/>
                  </a:lnTo>
                  <a:lnTo>
                    <a:pt x="10754360" y="2707640"/>
                  </a:lnTo>
                  <a:lnTo>
                    <a:pt x="0" y="270764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914400" y="2194560"/>
            <a:ext cx="146304" cy="2011680"/>
            <a:chOff x="0" y="0"/>
            <a:chExt cx="195072" cy="26822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5072" cy="2682240"/>
            </a:xfrm>
            <a:custGeom>
              <a:avLst/>
              <a:gdLst/>
              <a:ahLst/>
              <a:cxnLst/>
              <a:rect l="l" t="t" r="r" b="b"/>
              <a:pathLst>
                <a:path w="195072" h="2682240">
                  <a:moveTo>
                    <a:pt x="0" y="0"/>
                  </a:moveTo>
                  <a:lnTo>
                    <a:pt x="195072" y="0"/>
                  </a:lnTo>
                  <a:lnTo>
                    <a:pt x="195072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371600" y="2194560"/>
            <a:ext cx="7315200" cy="2011680"/>
            <a:chOff x="0" y="0"/>
            <a:chExt cx="9753600" cy="26822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753600" cy="2682240"/>
            </a:xfrm>
            <a:custGeom>
              <a:avLst/>
              <a:gdLst/>
              <a:ahLst/>
              <a:cxnLst/>
              <a:rect l="l" t="t" r="r" b="b"/>
              <a:pathLst>
                <a:path w="9753600" h="2682240">
                  <a:moveTo>
                    <a:pt x="0" y="0"/>
                  </a:moveTo>
                  <a:lnTo>
                    <a:pt x="9753600" y="0"/>
                  </a:lnTo>
                  <a:lnTo>
                    <a:pt x="9753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0854" b="-20854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9753600" cy="27393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Zero (Z)</a:t>
              </a: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Set when the 16-bit result is 0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317355" y="2185035"/>
            <a:ext cx="8065770" cy="2030730"/>
            <a:chOff x="0" y="0"/>
            <a:chExt cx="10754360" cy="27076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54360" cy="2707640"/>
            </a:xfrm>
            <a:custGeom>
              <a:avLst/>
              <a:gdLst/>
              <a:ahLst/>
              <a:cxnLst/>
              <a:rect l="l" t="t" r="r" b="b"/>
              <a:pathLst>
                <a:path w="10754360" h="2707640">
                  <a:moveTo>
                    <a:pt x="0" y="0"/>
                  </a:moveTo>
                  <a:lnTo>
                    <a:pt x="10754360" y="0"/>
                  </a:lnTo>
                  <a:lnTo>
                    <a:pt x="10754360" y="2707640"/>
                  </a:lnTo>
                  <a:lnTo>
                    <a:pt x="0" y="270764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9326880" y="2194560"/>
            <a:ext cx="146304" cy="2011680"/>
            <a:chOff x="0" y="0"/>
            <a:chExt cx="195072" cy="26822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95072" cy="2682240"/>
            </a:xfrm>
            <a:custGeom>
              <a:avLst/>
              <a:gdLst/>
              <a:ahLst/>
              <a:cxnLst/>
              <a:rect l="l" t="t" r="r" b="b"/>
              <a:pathLst>
                <a:path w="195072" h="2682240">
                  <a:moveTo>
                    <a:pt x="0" y="0"/>
                  </a:moveTo>
                  <a:lnTo>
                    <a:pt x="195072" y="0"/>
                  </a:lnTo>
                  <a:lnTo>
                    <a:pt x="195072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9784080" y="2194560"/>
            <a:ext cx="7315200" cy="2011680"/>
            <a:chOff x="0" y="0"/>
            <a:chExt cx="9753600" cy="26822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753600" cy="2682240"/>
            </a:xfrm>
            <a:custGeom>
              <a:avLst/>
              <a:gdLst/>
              <a:ahLst/>
              <a:cxnLst/>
              <a:rect l="l" t="t" r="r" b="b"/>
              <a:pathLst>
                <a:path w="9753600" h="2682240">
                  <a:moveTo>
                    <a:pt x="0" y="0"/>
                  </a:moveTo>
                  <a:lnTo>
                    <a:pt x="9753600" y="0"/>
                  </a:lnTo>
                  <a:lnTo>
                    <a:pt x="9753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0854" b="-20854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9753600" cy="27393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Carry (C)</a:t>
              </a: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Unsigned ADD carry-out, SUB borrow, shift carry-out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04875" y="4471035"/>
            <a:ext cx="8065770" cy="2030730"/>
            <a:chOff x="0" y="0"/>
            <a:chExt cx="10754360" cy="270764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754360" cy="2707640"/>
            </a:xfrm>
            <a:custGeom>
              <a:avLst/>
              <a:gdLst/>
              <a:ahLst/>
              <a:cxnLst/>
              <a:rect l="l" t="t" r="r" b="b"/>
              <a:pathLst>
                <a:path w="10754360" h="2707640">
                  <a:moveTo>
                    <a:pt x="0" y="0"/>
                  </a:moveTo>
                  <a:lnTo>
                    <a:pt x="10754360" y="0"/>
                  </a:lnTo>
                  <a:lnTo>
                    <a:pt x="10754360" y="2707640"/>
                  </a:lnTo>
                  <a:lnTo>
                    <a:pt x="0" y="270764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914400" y="4480560"/>
            <a:ext cx="146304" cy="2011680"/>
            <a:chOff x="0" y="0"/>
            <a:chExt cx="195072" cy="268224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95072" cy="2682240"/>
            </a:xfrm>
            <a:custGeom>
              <a:avLst/>
              <a:gdLst/>
              <a:ahLst/>
              <a:cxnLst/>
              <a:rect l="l" t="t" r="r" b="b"/>
              <a:pathLst>
                <a:path w="195072" h="2682240">
                  <a:moveTo>
                    <a:pt x="0" y="0"/>
                  </a:moveTo>
                  <a:lnTo>
                    <a:pt x="195072" y="0"/>
                  </a:lnTo>
                  <a:lnTo>
                    <a:pt x="195072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371600" y="4480560"/>
            <a:ext cx="7315200" cy="2011680"/>
            <a:chOff x="0" y="0"/>
            <a:chExt cx="9753600" cy="26822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753600" cy="2682240"/>
            </a:xfrm>
            <a:custGeom>
              <a:avLst/>
              <a:gdLst/>
              <a:ahLst/>
              <a:cxnLst/>
              <a:rect l="l" t="t" r="r" b="b"/>
              <a:pathLst>
                <a:path w="9753600" h="2682240">
                  <a:moveTo>
                    <a:pt x="0" y="0"/>
                  </a:moveTo>
                  <a:lnTo>
                    <a:pt x="9753600" y="0"/>
                  </a:lnTo>
                  <a:lnTo>
                    <a:pt x="9753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0854" b="-20854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9753600" cy="27393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Overflow (V)</a:t>
              </a: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Signed overflow; MUL upper bits non-zero; divide-by-zero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317355" y="4471035"/>
            <a:ext cx="8065770" cy="2030730"/>
            <a:chOff x="0" y="0"/>
            <a:chExt cx="10754360" cy="27076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754360" cy="2707640"/>
            </a:xfrm>
            <a:custGeom>
              <a:avLst/>
              <a:gdLst/>
              <a:ahLst/>
              <a:cxnLst/>
              <a:rect l="l" t="t" r="r" b="b"/>
              <a:pathLst>
                <a:path w="10754360" h="2707640">
                  <a:moveTo>
                    <a:pt x="0" y="0"/>
                  </a:moveTo>
                  <a:lnTo>
                    <a:pt x="10754360" y="0"/>
                  </a:lnTo>
                  <a:lnTo>
                    <a:pt x="10754360" y="2707640"/>
                  </a:lnTo>
                  <a:lnTo>
                    <a:pt x="0" y="270764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9326880" y="4480560"/>
            <a:ext cx="146304" cy="2011680"/>
            <a:chOff x="0" y="0"/>
            <a:chExt cx="195072" cy="268224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95072" cy="2682240"/>
            </a:xfrm>
            <a:custGeom>
              <a:avLst/>
              <a:gdLst/>
              <a:ahLst/>
              <a:cxnLst/>
              <a:rect l="l" t="t" r="r" b="b"/>
              <a:pathLst>
                <a:path w="195072" h="2682240">
                  <a:moveTo>
                    <a:pt x="0" y="0"/>
                  </a:moveTo>
                  <a:lnTo>
                    <a:pt x="195072" y="0"/>
                  </a:lnTo>
                  <a:lnTo>
                    <a:pt x="195072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4B8A6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9784080" y="4480560"/>
            <a:ext cx="7315200" cy="2011680"/>
            <a:chOff x="0" y="0"/>
            <a:chExt cx="9753600" cy="268224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753600" cy="2682240"/>
            </a:xfrm>
            <a:custGeom>
              <a:avLst/>
              <a:gdLst/>
              <a:ahLst/>
              <a:cxnLst/>
              <a:rect l="l" t="t" r="r" b="b"/>
              <a:pathLst>
                <a:path w="9753600" h="2682240">
                  <a:moveTo>
                    <a:pt x="0" y="0"/>
                  </a:moveTo>
                  <a:lnTo>
                    <a:pt x="9753600" y="0"/>
                  </a:lnTo>
                  <a:lnTo>
                    <a:pt x="9753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0854" b="-20854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57150"/>
              <a:ext cx="9753600" cy="27393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0B1F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Negative (N)</a:t>
              </a: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 bit 15 for signed operations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005840" y="6928485"/>
            <a:ext cx="16276320" cy="2901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Division by zero returns 0xFFFF with Overflow set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Signed -32768 / -1 returns 0x8000 with Overflow set (+32768 does not fit)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Multiplication keeps the lower 16 bits; Overflow flags a truncated result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219456"/>
            <a:ext cx="16459200" cy="1207008"/>
            <a:chOff x="0" y="0"/>
            <a:chExt cx="21945600" cy="16093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5705" b="-21570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21945600" cy="17331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39"/>
                </a:lnSpc>
              </a:pPr>
              <a:r>
                <a:rPr lang="en-US" sz="5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Hardware Results and Conclusion</a:t>
              </a:r>
            </a:p>
          </p:txBody>
        </p:sp>
      </p:grp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914400" y="2103120"/>
          <a:ext cx="9829799" cy="6172200"/>
        </p:xfrm>
        <a:graphic>
          <a:graphicData uri="http://schemas.openxmlformats.org/drawingml/2006/table">
            <a:tbl>
              <a:tblPr/>
              <a:tblGrid>
                <a:gridCol w="4360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3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Test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Result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Flags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ADD 1 + 2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none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SUB 3 - 5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65534 (FFFE)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MUL 256 x 256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Z V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DIV 8 / 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65535 (FFFF)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SADD -32768 + -32768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Z V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SADD 32767 + 1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-32768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 N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SDIV 10 / -2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-5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ROR 3 by 1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32769 (8001)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0B1F3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none</a:t>
                      </a:r>
                      <a:endParaRPr lang="en-US" sz="1100"/>
                    </a:p>
                  </a:txBody>
                  <a:tcPr marT="91440" marB="9144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11430000" y="2082165"/>
            <a:ext cx="6035040" cy="6924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All tested cases matched expected values and flags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Full chain verified: keypad, switches, ALU, OLED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Next: testbench coverage, timing and utilization reports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BAC5B3-9BC4-759C-68EB-62024A1CA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18CB209-209C-7C8C-A671-F0471630BEDC}"/>
              </a:ext>
            </a:extLst>
          </p:cNvPr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4439155-D43E-CB16-4314-C8D1937BB146}"/>
                </a:ext>
              </a:extLst>
            </p:cNvPr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4C82B073-F57B-F036-D4D7-1ECD4124B0BE}"/>
              </a:ext>
            </a:extLst>
          </p:cNvPr>
          <p:cNvGrpSpPr/>
          <p:nvPr/>
        </p:nvGrpSpPr>
        <p:grpSpPr>
          <a:xfrm>
            <a:off x="914400" y="219456"/>
            <a:ext cx="16459200" cy="1207008"/>
            <a:chOff x="0" y="0"/>
            <a:chExt cx="21945600" cy="160934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19AEC41-1672-5EAE-ED28-9526795FD69B}"/>
                </a:ext>
              </a:extLst>
            </p:cNvPr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5705" b="-215705"/>
              </a:stretch>
            </a:blip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5D94F8A-1528-2AA6-5CC8-1E232D9400A5}"/>
                </a:ext>
              </a:extLst>
            </p:cNvPr>
            <p:cNvSpPr txBox="1"/>
            <p:nvPr/>
          </p:nvSpPr>
          <p:spPr>
            <a:xfrm>
              <a:off x="0" y="-123825"/>
              <a:ext cx="21945600" cy="17331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39"/>
                </a:lnSpc>
              </a:pPr>
              <a:r>
                <a:rPr lang="en-US" sz="5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Hardware Results and Conclusion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2424EF3B-6EEA-D6C3-C56E-D29C1ECA45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362200"/>
            <a:ext cx="6810375" cy="3276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8CCFE08-FF74-6A67-C67C-178FAE292E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897" y="6286500"/>
            <a:ext cx="8258175" cy="33432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70C45C0-EE22-5350-C67E-C7CEF6F592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0" y="2559777"/>
            <a:ext cx="5867400" cy="615804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49C8B17-56AB-8024-BFF2-52930171CDC3}"/>
              </a:ext>
            </a:extLst>
          </p:cNvPr>
          <p:cNvSpPr txBox="1"/>
          <p:nvPr/>
        </p:nvSpPr>
        <p:spPr>
          <a:xfrm>
            <a:off x="2438958" y="1840288"/>
            <a:ext cx="28057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UTILIZATION REPORT</a:t>
            </a:r>
            <a:endParaRPr lang="en-IN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87E67C-8527-5CEB-1650-F726E8D9B3B3}"/>
              </a:ext>
            </a:extLst>
          </p:cNvPr>
          <p:cNvSpPr txBox="1"/>
          <p:nvPr/>
        </p:nvSpPr>
        <p:spPr>
          <a:xfrm>
            <a:off x="2590800" y="5699047"/>
            <a:ext cx="2198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POWER REPORT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60874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219456"/>
            <a:ext cx="16459200" cy="1207008"/>
            <a:chOff x="0" y="0"/>
            <a:chExt cx="21945600" cy="16093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5705" b="-21570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21945600" cy="17331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39"/>
                </a:lnSpc>
              </a:pPr>
              <a:r>
                <a:rPr lang="en-US" sz="5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Hardware Results and Conclusion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335280" y="2552700"/>
            <a:ext cx="11148907" cy="6271260"/>
          </a:xfrm>
          <a:custGeom>
            <a:avLst/>
            <a:gdLst/>
            <a:ahLst/>
            <a:cxnLst/>
            <a:rect l="l" t="t" r="r" b="b"/>
            <a:pathLst>
              <a:path w="11148907" h="6271260">
                <a:moveTo>
                  <a:pt x="0" y="0"/>
                </a:moveTo>
                <a:lnTo>
                  <a:pt x="11148907" y="0"/>
                </a:lnTo>
                <a:lnTo>
                  <a:pt x="11148907" y="6271260"/>
                </a:lnTo>
                <a:lnTo>
                  <a:pt x="0" y="6271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430000" y="2082165"/>
            <a:ext cx="6035040" cy="174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A=0001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B=0002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Y=0003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Operation=ADD (opcode 0000 )</a:t>
            </a:r>
          </a:p>
        </p:txBody>
      </p:sp>
      <p:sp>
        <p:nvSpPr>
          <p:cNvPr id="9" name="Flags card"/>
          <p:cNvSpPr/>
          <p:nvPr/>
        </p:nvSpPr>
        <p:spPr>
          <a:xfrm>
            <a:off x="11734800" y="4762500"/>
            <a:ext cx="6217920" cy="51873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Flags heading"/>
          <p:cNvSpPr txBox="1"/>
          <p:nvPr/>
        </p:nvSpPr>
        <p:spPr>
          <a:xfrm>
            <a:off x="12050040" y="4906013"/>
            <a:ext cx="5577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B1F3A"/>
                </a:solidFill>
                <a:latin typeface="Calibri"/>
              </a:rPr>
              <a:t>How the flags came out</a:t>
            </a:r>
          </a:p>
        </p:txBody>
      </p:sp>
      <p:sp>
        <p:nvSpPr>
          <p:cNvPr id="11" name="Flag Z"/>
          <p:cNvSpPr/>
          <p:nvPr/>
        </p:nvSpPr>
        <p:spPr>
          <a:xfrm>
            <a:off x="12050040" y="5546093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lag Z text"/>
          <p:cNvSpPr txBox="1"/>
          <p:nvPr/>
        </p:nvSpPr>
        <p:spPr>
          <a:xfrm>
            <a:off x="12050040" y="5546093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Z = 0</a:t>
            </a:r>
          </a:p>
        </p:txBody>
      </p:sp>
      <p:sp>
        <p:nvSpPr>
          <p:cNvPr id="13" name="Flag C"/>
          <p:cNvSpPr/>
          <p:nvPr/>
        </p:nvSpPr>
        <p:spPr>
          <a:xfrm>
            <a:off x="13490219" y="5546093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lag C text"/>
          <p:cNvSpPr txBox="1"/>
          <p:nvPr/>
        </p:nvSpPr>
        <p:spPr>
          <a:xfrm>
            <a:off x="13490219" y="5546093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C = 0</a:t>
            </a:r>
          </a:p>
        </p:txBody>
      </p:sp>
      <p:sp>
        <p:nvSpPr>
          <p:cNvPr id="15" name="Flag V"/>
          <p:cNvSpPr/>
          <p:nvPr/>
        </p:nvSpPr>
        <p:spPr>
          <a:xfrm>
            <a:off x="14930400" y="5546093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lag V text"/>
          <p:cNvSpPr txBox="1"/>
          <p:nvPr/>
        </p:nvSpPr>
        <p:spPr>
          <a:xfrm>
            <a:off x="14930400" y="5546093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V = 0</a:t>
            </a:r>
          </a:p>
        </p:txBody>
      </p:sp>
      <p:sp>
        <p:nvSpPr>
          <p:cNvPr id="17" name="Flag N"/>
          <p:cNvSpPr/>
          <p:nvPr/>
        </p:nvSpPr>
        <p:spPr>
          <a:xfrm>
            <a:off x="16370580" y="5546093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Flag N text"/>
          <p:cNvSpPr txBox="1"/>
          <p:nvPr/>
        </p:nvSpPr>
        <p:spPr>
          <a:xfrm>
            <a:off x="16370580" y="5546093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N = 0</a:t>
            </a:r>
          </a:p>
        </p:txBody>
      </p:sp>
      <p:sp>
        <p:nvSpPr>
          <p:cNvPr id="19" name="Flags reason"/>
          <p:cNvSpPr txBox="1"/>
          <p:nvPr/>
        </p:nvSpPr>
        <p:spPr>
          <a:xfrm>
            <a:off x="12050040" y="6643373"/>
            <a:ext cx="5577840" cy="30841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dirty="0">
                <a:solidFill>
                  <a:srgbClr val="475569"/>
                </a:solidFill>
                <a:latin typeface="Calibri"/>
              </a:rPr>
              <a:t>Z = (Y == 0) = 0.</a:t>
            </a:r>
          </a:p>
          <a:p>
            <a:pPr algn="l">
              <a:spcAft>
                <a:spcPts val="600"/>
              </a:spcAft>
            </a:pPr>
            <a:r>
              <a:rPr sz="2200" b="0" dirty="0">
                <a:solidFill>
                  <a:srgbClr val="475569"/>
                </a:solidFill>
                <a:latin typeface="Calibri"/>
              </a:rPr>
              <a:t>C = bit 16 of the 17-bit sum: 0x0001+0x0002 = 0x00003, so C=0.</a:t>
            </a:r>
          </a:p>
          <a:p>
            <a:pPr algn="l">
              <a:spcAft>
                <a:spcPts val="600"/>
              </a:spcAft>
            </a:pPr>
            <a:r>
              <a:rPr sz="2200" b="0" dirty="0">
                <a:solidFill>
                  <a:srgbClr val="475569"/>
                </a:solidFill>
                <a:latin typeface="Calibri"/>
              </a:rPr>
              <a:t>V and N are always 0 for unsigned ops.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219456"/>
            <a:ext cx="16459200" cy="1207008"/>
            <a:chOff x="0" y="0"/>
            <a:chExt cx="21945600" cy="16093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5705" b="-21570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21945600" cy="17331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39"/>
                </a:lnSpc>
              </a:pPr>
              <a:r>
                <a:rPr lang="en-US" sz="5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Hardware Results and Conclusion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749234" y="2708237"/>
            <a:ext cx="10311042" cy="5799961"/>
          </a:xfrm>
          <a:custGeom>
            <a:avLst/>
            <a:gdLst/>
            <a:ahLst/>
            <a:cxnLst/>
            <a:rect l="l" t="t" r="r" b="b"/>
            <a:pathLst>
              <a:path w="10311042" h="5799961">
                <a:moveTo>
                  <a:pt x="0" y="0"/>
                </a:moveTo>
                <a:lnTo>
                  <a:pt x="10311042" y="0"/>
                </a:lnTo>
                <a:lnTo>
                  <a:pt x="10311042" y="5799961"/>
                </a:lnTo>
                <a:lnTo>
                  <a:pt x="0" y="57999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430000" y="2082165"/>
            <a:ext cx="6035040" cy="174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A=0005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B=0002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Y=0003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Operation=SUB (opcode 0001 )</a:t>
            </a:r>
          </a:p>
        </p:txBody>
      </p:sp>
      <p:sp>
        <p:nvSpPr>
          <p:cNvPr id="9" name="Flags card"/>
          <p:cNvSpPr/>
          <p:nvPr/>
        </p:nvSpPr>
        <p:spPr>
          <a:xfrm>
            <a:off x="11430000" y="4459605"/>
            <a:ext cx="6217920" cy="51873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Flags heading"/>
          <p:cNvSpPr txBox="1"/>
          <p:nvPr/>
        </p:nvSpPr>
        <p:spPr>
          <a:xfrm>
            <a:off x="11750040" y="4688205"/>
            <a:ext cx="5577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B1F3A"/>
                </a:solidFill>
                <a:latin typeface="Calibri"/>
              </a:rPr>
              <a:t>How the flags came out</a:t>
            </a:r>
          </a:p>
        </p:txBody>
      </p:sp>
      <p:sp>
        <p:nvSpPr>
          <p:cNvPr id="11" name="Flag Z"/>
          <p:cNvSpPr/>
          <p:nvPr/>
        </p:nvSpPr>
        <p:spPr>
          <a:xfrm>
            <a:off x="11750040" y="5328285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lag Z text"/>
          <p:cNvSpPr txBox="1"/>
          <p:nvPr/>
        </p:nvSpPr>
        <p:spPr>
          <a:xfrm>
            <a:off x="11750040" y="5328285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Z = 0</a:t>
            </a:r>
          </a:p>
        </p:txBody>
      </p:sp>
      <p:sp>
        <p:nvSpPr>
          <p:cNvPr id="13" name="Flag C"/>
          <p:cNvSpPr/>
          <p:nvPr/>
        </p:nvSpPr>
        <p:spPr>
          <a:xfrm>
            <a:off x="13190219" y="5328285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lag C text"/>
          <p:cNvSpPr txBox="1"/>
          <p:nvPr/>
        </p:nvSpPr>
        <p:spPr>
          <a:xfrm>
            <a:off x="13190219" y="5328285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C = 0</a:t>
            </a:r>
          </a:p>
        </p:txBody>
      </p:sp>
      <p:sp>
        <p:nvSpPr>
          <p:cNvPr id="15" name="Flag V"/>
          <p:cNvSpPr/>
          <p:nvPr/>
        </p:nvSpPr>
        <p:spPr>
          <a:xfrm>
            <a:off x="14630400" y="5328285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lag V text"/>
          <p:cNvSpPr txBox="1"/>
          <p:nvPr/>
        </p:nvSpPr>
        <p:spPr>
          <a:xfrm>
            <a:off x="14630400" y="5328285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V = 0</a:t>
            </a:r>
          </a:p>
        </p:txBody>
      </p:sp>
      <p:sp>
        <p:nvSpPr>
          <p:cNvPr id="17" name="Flag N"/>
          <p:cNvSpPr/>
          <p:nvPr/>
        </p:nvSpPr>
        <p:spPr>
          <a:xfrm>
            <a:off x="16070580" y="5328285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Flag N text"/>
          <p:cNvSpPr txBox="1"/>
          <p:nvPr/>
        </p:nvSpPr>
        <p:spPr>
          <a:xfrm>
            <a:off x="16070580" y="5328285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N = 0</a:t>
            </a:r>
          </a:p>
        </p:txBody>
      </p:sp>
      <p:sp>
        <p:nvSpPr>
          <p:cNvPr id="19" name="Flags reason"/>
          <p:cNvSpPr txBox="1"/>
          <p:nvPr/>
        </p:nvSpPr>
        <p:spPr>
          <a:xfrm>
            <a:off x="11750040" y="6425565"/>
            <a:ext cx="5577840" cy="30841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475569"/>
                </a:solidFill>
                <a:latin typeface="Calibri"/>
              </a:rPr>
              <a:t>Z = (Y == 0) = 0.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75569"/>
                </a:solidFill>
                <a:latin typeface="Calibri"/>
              </a:rPr>
              <a:t>C = borrow = (A&lt;B): 5 &gt;= 2, so C=0.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75569"/>
                </a:solidFill>
                <a:latin typeface="Calibri"/>
              </a:rPr>
              <a:t>V and N are always 0 for unsigned ops.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219456"/>
            <a:ext cx="16459200" cy="1207008"/>
            <a:chOff x="0" y="0"/>
            <a:chExt cx="21945600" cy="16093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5705" b="-21570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21945600" cy="17331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39"/>
                </a:lnSpc>
              </a:pPr>
              <a:r>
                <a:rPr lang="en-US" sz="5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Hardware Results and Conclusion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205523" y="2352762"/>
            <a:ext cx="11719176" cy="6592037"/>
          </a:xfrm>
          <a:custGeom>
            <a:avLst/>
            <a:gdLst/>
            <a:ahLst/>
            <a:cxnLst/>
            <a:rect l="l" t="t" r="r" b="b"/>
            <a:pathLst>
              <a:path w="11719176" h="6592037">
                <a:moveTo>
                  <a:pt x="0" y="0"/>
                </a:moveTo>
                <a:lnTo>
                  <a:pt x="11719176" y="0"/>
                </a:lnTo>
                <a:lnTo>
                  <a:pt x="11719176" y="6592036"/>
                </a:lnTo>
                <a:lnTo>
                  <a:pt x="0" y="65920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930214" y="2538882"/>
            <a:ext cx="6035040" cy="174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A=0003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B=0005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Y=FFFE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Operation=SUB (opcode 0001 )</a:t>
            </a:r>
          </a:p>
        </p:txBody>
      </p:sp>
      <p:sp>
        <p:nvSpPr>
          <p:cNvPr id="9" name="Flags card"/>
          <p:cNvSpPr/>
          <p:nvPr/>
        </p:nvSpPr>
        <p:spPr>
          <a:xfrm>
            <a:off x="12364771" y="4991100"/>
            <a:ext cx="5717706" cy="473059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Flags heading"/>
          <p:cNvSpPr txBox="1"/>
          <p:nvPr/>
        </p:nvSpPr>
        <p:spPr>
          <a:xfrm>
            <a:off x="12887628" y="5681812"/>
            <a:ext cx="507762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B1F3A"/>
                </a:solidFill>
                <a:latin typeface="Calibri"/>
              </a:rPr>
              <a:t>How the flags came out</a:t>
            </a:r>
          </a:p>
        </p:txBody>
      </p:sp>
      <p:sp>
        <p:nvSpPr>
          <p:cNvPr id="11" name="Flag Z"/>
          <p:cNvSpPr/>
          <p:nvPr/>
        </p:nvSpPr>
        <p:spPr>
          <a:xfrm>
            <a:off x="12887628" y="6321892"/>
            <a:ext cx="1132246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lag Z text"/>
          <p:cNvSpPr txBox="1"/>
          <p:nvPr/>
        </p:nvSpPr>
        <p:spPr>
          <a:xfrm>
            <a:off x="12887628" y="6321892"/>
            <a:ext cx="1132246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Z = 0</a:t>
            </a:r>
          </a:p>
        </p:txBody>
      </p:sp>
      <p:sp>
        <p:nvSpPr>
          <p:cNvPr id="13" name="Flag C"/>
          <p:cNvSpPr/>
          <p:nvPr/>
        </p:nvSpPr>
        <p:spPr>
          <a:xfrm>
            <a:off x="14202754" y="6321892"/>
            <a:ext cx="1132246" cy="868680"/>
          </a:xfrm>
          <a:prstGeom prst="roundRect">
            <a:avLst>
              <a:gd name="adj" fmla="val 15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lag C text"/>
          <p:cNvSpPr txBox="1"/>
          <p:nvPr/>
        </p:nvSpPr>
        <p:spPr>
          <a:xfrm>
            <a:off x="14202754" y="6321892"/>
            <a:ext cx="1132246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C = 1</a:t>
            </a:r>
          </a:p>
        </p:txBody>
      </p:sp>
      <p:sp>
        <p:nvSpPr>
          <p:cNvPr id="15" name="Flag V"/>
          <p:cNvSpPr/>
          <p:nvPr/>
        </p:nvSpPr>
        <p:spPr>
          <a:xfrm>
            <a:off x="15517881" y="6321892"/>
            <a:ext cx="1132246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lag V text"/>
          <p:cNvSpPr txBox="1"/>
          <p:nvPr/>
        </p:nvSpPr>
        <p:spPr>
          <a:xfrm>
            <a:off x="15517881" y="6321892"/>
            <a:ext cx="1132246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V = 0</a:t>
            </a:r>
          </a:p>
        </p:txBody>
      </p:sp>
      <p:sp>
        <p:nvSpPr>
          <p:cNvPr id="17" name="Flag N"/>
          <p:cNvSpPr/>
          <p:nvPr/>
        </p:nvSpPr>
        <p:spPr>
          <a:xfrm>
            <a:off x="16833007" y="6321892"/>
            <a:ext cx="1132246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Flag N text"/>
          <p:cNvSpPr txBox="1"/>
          <p:nvPr/>
        </p:nvSpPr>
        <p:spPr>
          <a:xfrm>
            <a:off x="16833007" y="6321892"/>
            <a:ext cx="1132246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N = 0</a:t>
            </a:r>
          </a:p>
        </p:txBody>
      </p:sp>
      <p:sp>
        <p:nvSpPr>
          <p:cNvPr id="19" name="Flags reason"/>
          <p:cNvSpPr txBox="1"/>
          <p:nvPr/>
        </p:nvSpPr>
        <p:spPr>
          <a:xfrm>
            <a:off x="12887628" y="7419172"/>
            <a:ext cx="5077626" cy="26274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475569"/>
                </a:solidFill>
                <a:latin typeface="Calibri"/>
              </a:rPr>
              <a:t>Z = (Y == 0) = 0.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75569"/>
                </a:solidFill>
                <a:latin typeface="Calibri"/>
              </a:rPr>
              <a:t>C = borrow = (A&lt;B): 3 &lt; 5, so C=1. Result wrapped to 16 bits.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75569"/>
                </a:solidFill>
                <a:latin typeface="Calibri"/>
              </a:rPr>
              <a:t>V and N are always 0 for unsigned ops.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219456"/>
            <a:ext cx="16459200" cy="1207008"/>
            <a:chOff x="0" y="0"/>
            <a:chExt cx="21945600" cy="16093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5705" b="-21570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21945600" cy="17331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39"/>
                </a:lnSpc>
              </a:pPr>
              <a:r>
                <a:rPr lang="en-US" sz="5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Hardware Results and Conclusion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392559" y="2248648"/>
            <a:ext cx="10792963" cy="6071042"/>
          </a:xfrm>
          <a:custGeom>
            <a:avLst/>
            <a:gdLst/>
            <a:ahLst/>
            <a:cxnLst/>
            <a:rect l="l" t="t" r="r" b="b"/>
            <a:pathLst>
              <a:path w="10792963" h="6071042">
                <a:moveTo>
                  <a:pt x="0" y="0"/>
                </a:moveTo>
                <a:lnTo>
                  <a:pt x="10792963" y="0"/>
                </a:lnTo>
                <a:lnTo>
                  <a:pt x="10792963" y="6071042"/>
                </a:lnTo>
                <a:lnTo>
                  <a:pt x="0" y="60710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430000" y="2082165"/>
            <a:ext cx="6035040" cy="174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A=0100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B=0100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Y=0000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Operation=MUL (opcode 0010 )</a:t>
            </a:r>
          </a:p>
        </p:txBody>
      </p:sp>
      <p:sp>
        <p:nvSpPr>
          <p:cNvPr id="9" name="Flags card"/>
          <p:cNvSpPr/>
          <p:nvPr/>
        </p:nvSpPr>
        <p:spPr>
          <a:xfrm>
            <a:off x="11430000" y="4459605"/>
            <a:ext cx="6217920" cy="51873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Flags heading"/>
          <p:cNvSpPr txBox="1"/>
          <p:nvPr/>
        </p:nvSpPr>
        <p:spPr>
          <a:xfrm>
            <a:off x="11750040" y="4688205"/>
            <a:ext cx="5577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B1F3A"/>
                </a:solidFill>
                <a:latin typeface="Calibri"/>
              </a:rPr>
              <a:t>How the flags came out</a:t>
            </a:r>
          </a:p>
        </p:txBody>
      </p:sp>
      <p:sp>
        <p:nvSpPr>
          <p:cNvPr id="11" name="Flag Z"/>
          <p:cNvSpPr/>
          <p:nvPr/>
        </p:nvSpPr>
        <p:spPr>
          <a:xfrm>
            <a:off x="11750040" y="5328285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lag Z text"/>
          <p:cNvSpPr txBox="1"/>
          <p:nvPr/>
        </p:nvSpPr>
        <p:spPr>
          <a:xfrm>
            <a:off x="11750040" y="5328285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Z = 1</a:t>
            </a:r>
          </a:p>
        </p:txBody>
      </p:sp>
      <p:sp>
        <p:nvSpPr>
          <p:cNvPr id="13" name="Flag C"/>
          <p:cNvSpPr/>
          <p:nvPr/>
        </p:nvSpPr>
        <p:spPr>
          <a:xfrm>
            <a:off x="13190219" y="5328285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lag C text"/>
          <p:cNvSpPr txBox="1"/>
          <p:nvPr/>
        </p:nvSpPr>
        <p:spPr>
          <a:xfrm>
            <a:off x="13190219" y="5328285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C = 0</a:t>
            </a:r>
          </a:p>
        </p:txBody>
      </p:sp>
      <p:sp>
        <p:nvSpPr>
          <p:cNvPr id="15" name="Flag V"/>
          <p:cNvSpPr/>
          <p:nvPr/>
        </p:nvSpPr>
        <p:spPr>
          <a:xfrm>
            <a:off x="14630400" y="5328285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lag V text"/>
          <p:cNvSpPr txBox="1"/>
          <p:nvPr/>
        </p:nvSpPr>
        <p:spPr>
          <a:xfrm>
            <a:off x="14630400" y="5328285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V = 1</a:t>
            </a:r>
          </a:p>
        </p:txBody>
      </p:sp>
      <p:sp>
        <p:nvSpPr>
          <p:cNvPr id="17" name="Flag N"/>
          <p:cNvSpPr/>
          <p:nvPr/>
        </p:nvSpPr>
        <p:spPr>
          <a:xfrm>
            <a:off x="16070580" y="5328285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Flag N text"/>
          <p:cNvSpPr txBox="1"/>
          <p:nvPr/>
        </p:nvSpPr>
        <p:spPr>
          <a:xfrm>
            <a:off x="16070580" y="5328285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N = 0</a:t>
            </a:r>
          </a:p>
        </p:txBody>
      </p:sp>
      <p:sp>
        <p:nvSpPr>
          <p:cNvPr id="19" name="Flags reason"/>
          <p:cNvSpPr txBox="1"/>
          <p:nvPr/>
        </p:nvSpPr>
        <p:spPr>
          <a:xfrm>
            <a:off x="11750040" y="6425565"/>
            <a:ext cx="5577840" cy="30841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dirty="0">
                <a:solidFill>
                  <a:srgbClr val="475569"/>
                </a:solidFill>
                <a:latin typeface="Calibri"/>
              </a:rPr>
              <a:t>Z = (Y == 0) = 1.</a:t>
            </a:r>
          </a:p>
          <a:p>
            <a:pPr algn="l">
              <a:spcAft>
                <a:spcPts val="600"/>
              </a:spcAft>
            </a:pPr>
            <a:r>
              <a:rPr sz="2200" b="0" dirty="0">
                <a:solidFill>
                  <a:srgbClr val="475569"/>
                </a:solidFill>
                <a:latin typeface="Calibri"/>
              </a:rPr>
              <a:t>V = any bit set in product[31:16]: 256x256 = 0x10000, upper half 0x1 is non-zero, so V=1 (result truncated).</a:t>
            </a:r>
          </a:p>
          <a:p>
            <a:pPr algn="l">
              <a:spcAft>
                <a:spcPts val="600"/>
              </a:spcAft>
            </a:pPr>
            <a:r>
              <a:rPr sz="2200" b="0" dirty="0">
                <a:solidFill>
                  <a:srgbClr val="475569"/>
                </a:solidFill>
                <a:latin typeface="Calibri"/>
              </a:rPr>
              <a:t>C and N are always 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219456"/>
            <a:ext cx="16459200" cy="1207008"/>
            <a:chOff x="0" y="0"/>
            <a:chExt cx="21945600" cy="16093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5705" b="-21570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21945600" cy="17331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39"/>
                </a:lnSpc>
              </a:pPr>
              <a:r>
                <a:rPr lang="en-US" sz="5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Hardware Results and Conclusion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427040" y="2987040"/>
            <a:ext cx="10013375" cy="5632523"/>
          </a:xfrm>
          <a:custGeom>
            <a:avLst/>
            <a:gdLst/>
            <a:ahLst/>
            <a:cxnLst/>
            <a:rect l="l" t="t" r="r" b="b"/>
            <a:pathLst>
              <a:path w="10013375" h="5632523">
                <a:moveTo>
                  <a:pt x="0" y="0"/>
                </a:moveTo>
                <a:lnTo>
                  <a:pt x="10013375" y="0"/>
                </a:lnTo>
                <a:lnTo>
                  <a:pt x="10013375" y="5632523"/>
                </a:lnTo>
                <a:lnTo>
                  <a:pt x="0" y="56325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430000" y="2082165"/>
            <a:ext cx="6035040" cy="174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A=0000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B=0000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Y=FFFF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Operation=DIV (opcode 0011 )</a:t>
            </a:r>
          </a:p>
        </p:txBody>
      </p:sp>
      <p:sp>
        <p:nvSpPr>
          <p:cNvPr id="9" name="Flags card"/>
          <p:cNvSpPr/>
          <p:nvPr/>
        </p:nvSpPr>
        <p:spPr>
          <a:xfrm>
            <a:off x="11430000" y="4459605"/>
            <a:ext cx="6217920" cy="51873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Flags heading"/>
          <p:cNvSpPr txBox="1"/>
          <p:nvPr/>
        </p:nvSpPr>
        <p:spPr>
          <a:xfrm>
            <a:off x="11750040" y="4688205"/>
            <a:ext cx="5577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B1F3A"/>
                </a:solidFill>
                <a:latin typeface="Calibri"/>
              </a:rPr>
              <a:t>How the flags came out</a:t>
            </a:r>
          </a:p>
        </p:txBody>
      </p:sp>
      <p:sp>
        <p:nvSpPr>
          <p:cNvPr id="11" name="Flag Z"/>
          <p:cNvSpPr/>
          <p:nvPr/>
        </p:nvSpPr>
        <p:spPr>
          <a:xfrm>
            <a:off x="11750040" y="5328285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lag Z text"/>
          <p:cNvSpPr txBox="1"/>
          <p:nvPr/>
        </p:nvSpPr>
        <p:spPr>
          <a:xfrm>
            <a:off x="11750040" y="5328285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Z = 0</a:t>
            </a:r>
          </a:p>
        </p:txBody>
      </p:sp>
      <p:sp>
        <p:nvSpPr>
          <p:cNvPr id="13" name="Flag C"/>
          <p:cNvSpPr/>
          <p:nvPr/>
        </p:nvSpPr>
        <p:spPr>
          <a:xfrm>
            <a:off x="13190219" y="5328285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lag C text"/>
          <p:cNvSpPr txBox="1"/>
          <p:nvPr/>
        </p:nvSpPr>
        <p:spPr>
          <a:xfrm>
            <a:off x="13190219" y="5328285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C = 0</a:t>
            </a:r>
          </a:p>
        </p:txBody>
      </p:sp>
      <p:sp>
        <p:nvSpPr>
          <p:cNvPr id="15" name="Flag V"/>
          <p:cNvSpPr/>
          <p:nvPr/>
        </p:nvSpPr>
        <p:spPr>
          <a:xfrm>
            <a:off x="14630400" y="5328285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lag V text"/>
          <p:cNvSpPr txBox="1"/>
          <p:nvPr/>
        </p:nvSpPr>
        <p:spPr>
          <a:xfrm>
            <a:off x="14630400" y="5328285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V = 1</a:t>
            </a:r>
          </a:p>
        </p:txBody>
      </p:sp>
      <p:sp>
        <p:nvSpPr>
          <p:cNvPr id="17" name="Flag N"/>
          <p:cNvSpPr/>
          <p:nvPr/>
        </p:nvSpPr>
        <p:spPr>
          <a:xfrm>
            <a:off x="16070580" y="5328285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Flag N text"/>
          <p:cNvSpPr txBox="1"/>
          <p:nvPr/>
        </p:nvSpPr>
        <p:spPr>
          <a:xfrm>
            <a:off x="16070580" y="5328285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N = 0</a:t>
            </a:r>
          </a:p>
        </p:txBody>
      </p:sp>
      <p:sp>
        <p:nvSpPr>
          <p:cNvPr id="19" name="Flags reason"/>
          <p:cNvSpPr txBox="1"/>
          <p:nvPr/>
        </p:nvSpPr>
        <p:spPr>
          <a:xfrm>
            <a:off x="11750040" y="6425565"/>
            <a:ext cx="5577840" cy="15850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dirty="0">
                <a:solidFill>
                  <a:srgbClr val="475569"/>
                </a:solidFill>
                <a:latin typeface="Calibri"/>
              </a:rPr>
              <a:t>Z = (Y == 0) = 0.</a:t>
            </a:r>
          </a:p>
          <a:p>
            <a:pPr algn="l">
              <a:spcAft>
                <a:spcPts val="600"/>
              </a:spcAft>
            </a:pPr>
            <a:r>
              <a:rPr sz="2200" b="0" dirty="0">
                <a:solidFill>
                  <a:srgbClr val="475569"/>
                </a:solidFill>
                <a:latin typeface="Calibri"/>
              </a:rPr>
              <a:t>B = 0 so the divider is bypassed: Y = FFFF and </a:t>
            </a:r>
            <a:endParaRPr lang="en-US" sz="2200" b="0" dirty="0">
              <a:solidFill>
                <a:srgbClr val="475569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sz="2200" b="0" dirty="0">
                <a:solidFill>
                  <a:srgbClr val="475569"/>
                </a:solidFill>
                <a:latin typeface="Calibri"/>
              </a:rPr>
              <a:t>V = 1 (divide-by-zero).</a:t>
            </a:r>
          </a:p>
          <a:p>
            <a:pPr algn="l">
              <a:spcAft>
                <a:spcPts val="600"/>
              </a:spcAft>
            </a:pPr>
            <a:r>
              <a:rPr sz="2200" b="0" dirty="0">
                <a:solidFill>
                  <a:srgbClr val="475569"/>
                </a:solidFill>
                <a:latin typeface="Calibri"/>
              </a:rPr>
              <a:t>C and N are 0.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219456"/>
            <a:ext cx="16459200" cy="1207008"/>
            <a:chOff x="0" y="0"/>
            <a:chExt cx="21945600" cy="16093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5705" b="-21570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21945600" cy="17331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39"/>
                </a:lnSpc>
              </a:pPr>
              <a:r>
                <a:rPr lang="en-US" sz="5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Hardware Results and Conclusion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153326" y="2660813"/>
            <a:ext cx="11028388" cy="6203469"/>
          </a:xfrm>
          <a:custGeom>
            <a:avLst/>
            <a:gdLst/>
            <a:ahLst/>
            <a:cxnLst/>
            <a:rect l="l" t="t" r="r" b="b"/>
            <a:pathLst>
              <a:path w="11028388" h="6203469">
                <a:moveTo>
                  <a:pt x="0" y="0"/>
                </a:moveTo>
                <a:lnTo>
                  <a:pt x="11028389" y="0"/>
                </a:lnTo>
                <a:lnTo>
                  <a:pt x="11028389" y="6203469"/>
                </a:lnTo>
                <a:lnTo>
                  <a:pt x="0" y="6203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430000" y="2082165"/>
            <a:ext cx="6035040" cy="174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A=F0F0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B=0FF0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Y=00F0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Operation=AND (opcode 0100 )</a:t>
            </a:r>
          </a:p>
        </p:txBody>
      </p:sp>
      <p:sp>
        <p:nvSpPr>
          <p:cNvPr id="9" name="Flags card"/>
          <p:cNvSpPr/>
          <p:nvPr/>
        </p:nvSpPr>
        <p:spPr>
          <a:xfrm>
            <a:off x="11430000" y="4459605"/>
            <a:ext cx="6217920" cy="51873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Flags heading"/>
          <p:cNvSpPr txBox="1"/>
          <p:nvPr/>
        </p:nvSpPr>
        <p:spPr>
          <a:xfrm>
            <a:off x="11750040" y="4688205"/>
            <a:ext cx="5577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B1F3A"/>
                </a:solidFill>
                <a:latin typeface="Calibri"/>
              </a:rPr>
              <a:t>How the flags came out</a:t>
            </a:r>
          </a:p>
        </p:txBody>
      </p:sp>
      <p:sp>
        <p:nvSpPr>
          <p:cNvPr id="11" name="Flag Z"/>
          <p:cNvSpPr/>
          <p:nvPr/>
        </p:nvSpPr>
        <p:spPr>
          <a:xfrm>
            <a:off x="11750040" y="5328285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lag Z text"/>
          <p:cNvSpPr txBox="1"/>
          <p:nvPr/>
        </p:nvSpPr>
        <p:spPr>
          <a:xfrm>
            <a:off x="11750040" y="5328285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Z = 0</a:t>
            </a:r>
          </a:p>
        </p:txBody>
      </p:sp>
      <p:sp>
        <p:nvSpPr>
          <p:cNvPr id="13" name="Flag C"/>
          <p:cNvSpPr/>
          <p:nvPr/>
        </p:nvSpPr>
        <p:spPr>
          <a:xfrm>
            <a:off x="13190219" y="5328285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lag C text"/>
          <p:cNvSpPr txBox="1"/>
          <p:nvPr/>
        </p:nvSpPr>
        <p:spPr>
          <a:xfrm>
            <a:off x="13190219" y="5328285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C = 0</a:t>
            </a:r>
          </a:p>
        </p:txBody>
      </p:sp>
      <p:sp>
        <p:nvSpPr>
          <p:cNvPr id="15" name="Flag V"/>
          <p:cNvSpPr/>
          <p:nvPr/>
        </p:nvSpPr>
        <p:spPr>
          <a:xfrm>
            <a:off x="14630400" y="5328285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lag V text"/>
          <p:cNvSpPr txBox="1"/>
          <p:nvPr/>
        </p:nvSpPr>
        <p:spPr>
          <a:xfrm>
            <a:off x="14630400" y="5328285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V = 0</a:t>
            </a:r>
          </a:p>
        </p:txBody>
      </p:sp>
      <p:sp>
        <p:nvSpPr>
          <p:cNvPr id="17" name="Flag N"/>
          <p:cNvSpPr/>
          <p:nvPr/>
        </p:nvSpPr>
        <p:spPr>
          <a:xfrm>
            <a:off x="16070580" y="5328285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Flag N text"/>
          <p:cNvSpPr txBox="1"/>
          <p:nvPr/>
        </p:nvSpPr>
        <p:spPr>
          <a:xfrm>
            <a:off x="16070580" y="5328285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N = 0</a:t>
            </a:r>
          </a:p>
        </p:txBody>
      </p:sp>
      <p:sp>
        <p:nvSpPr>
          <p:cNvPr id="19" name="Flags reason"/>
          <p:cNvSpPr txBox="1"/>
          <p:nvPr/>
        </p:nvSpPr>
        <p:spPr>
          <a:xfrm>
            <a:off x="11750040" y="6425565"/>
            <a:ext cx="5577840" cy="30841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475569"/>
                </a:solidFill>
                <a:latin typeface="Calibri"/>
              </a:rPr>
              <a:t>Z = (Y == 0) = 0.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75569"/>
                </a:solidFill>
                <a:latin typeface="Calibri"/>
              </a:rPr>
              <a:t>Logic ops force C = V = N = 0.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75569"/>
                </a:solidFill>
                <a:latin typeface="Calibri"/>
              </a:rPr>
              <a:t>Only Z can be set.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219456"/>
            <a:ext cx="16459200" cy="1207008"/>
            <a:chOff x="0" y="0"/>
            <a:chExt cx="21945600" cy="16093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5705" b="-21570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21945600" cy="17331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39"/>
                </a:lnSpc>
              </a:pPr>
              <a:r>
                <a:rPr lang="en-US" sz="5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Hardware Results and Conclusion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218450" y="2726059"/>
            <a:ext cx="10238474" cy="5759142"/>
          </a:xfrm>
          <a:custGeom>
            <a:avLst/>
            <a:gdLst/>
            <a:ahLst/>
            <a:cxnLst/>
            <a:rect l="l" t="t" r="r" b="b"/>
            <a:pathLst>
              <a:path w="10238474" h="5759142">
                <a:moveTo>
                  <a:pt x="0" y="0"/>
                </a:moveTo>
                <a:lnTo>
                  <a:pt x="10238474" y="0"/>
                </a:lnTo>
                <a:lnTo>
                  <a:pt x="10238474" y="5759141"/>
                </a:lnTo>
                <a:lnTo>
                  <a:pt x="0" y="57591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TextBox 8"/>
          <p:cNvSpPr txBox="1"/>
          <p:nvPr/>
        </p:nvSpPr>
        <p:spPr>
          <a:xfrm>
            <a:off x="11430000" y="2082165"/>
            <a:ext cx="6035040" cy="174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A=8000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B=8000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Y=0000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Operation=SADD (opcode 1000 )</a:t>
            </a:r>
          </a:p>
        </p:txBody>
      </p:sp>
      <p:sp>
        <p:nvSpPr>
          <p:cNvPr id="9" name="Flags card"/>
          <p:cNvSpPr/>
          <p:nvPr/>
        </p:nvSpPr>
        <p:spPr>
          <a:xfrm>
            <a:off x="11430000" y="4459605"/>
            <a:ext cx="6217920" cy="51873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Flags heading"/>
          <p:cNvSpPr txBox="1"/>
          <p:nvPr/>
        </p:nvSpPr>
        <p:spPr>
          <a:xfrm>
            <a:off x="11750040" y="4688205"/>
            <a:ext cx="5577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B1F3A"/>
                </a:solidFill>
                <a:latin typeface="Calibri"/>
              </a:rPr>
              <a:t>How the flags came out</a:t>
            </a:r>
          </a:p>
        </p:txBody>
      </p:sp>
      <p:sp>
        <p:nvSpPr>
          <p:cNvPr id="11" name="Flag Z"/>
          <p:cNvSpPr/>
          <p:nvPr/>
        </p:nvSpPr>
        <p:spPr>
          <a:xfrm>
            <a:off x="11750040" y="5328285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lag Z text"/>
          <p:cNvSpPr txBox="1"/>
          <p:nvPr/>
        </p:nvSpPr>
        <p:spPr>
          <a:xfrm>
            <a:off x="11750040" y="5328285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Z = 1</a:t>
            </a:r>
          </a:p>
        </p:txBody>
      </p:sp>
      <p:sp>
        <p:nvSpPr>
          <p:cNvPr id="13" name="Flag C"/>
          <p:cNvSpPr/>
          <p:nvPr/>
        </p:nvSpPr>
        <p:spPr>
          <a:xfrm>
            <a:off x="13190219" y="5328285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lag C text"/>
          <p:cNvSpPr txBox="1"/>
          <p:nvPr/>
        </p:nvSpPr>
        <p:spPr>
          <a:xfrm>
            <a:off x="13190219" y="5328285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C = 0</a:t>
            </a:r>
          </a:p>
        </p:txBody>
      </p:sp>
      <p:sp>
        <p:nvSpPr>
          <p:cNvPr id="15" name="Flag V"/>
          <p:cNvSpPr/>
          <p:nvPr/>
        </p:nvSpPr>
        <p:spPr>
          <a:xfrm>
            <a:off x="14630400" y="5328285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lag V text"/>
          <p:cNvSpPr txBox="1"/>
          <p:nvPr/>
        </p:nvSpPr>
        <p:spPr>
          <a:xfrm>
            <a:off x="14630400" y="5328285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V = 1</a:t>
            </a:r>
          </a:p>
        </p:txBody>
      </p:sp>
      <p:sp>
        <p:nvSpPr>
          <p:cNvPr id="17" name="Flag N"/>
          <p:cNvSpPr/>
          <p:nvPr/>
        </p:nvSpPr>
        <p:spPr>
          <a:xfrm>
            <a:off x="16070580" y="5328285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Flag N text"/>
          <p:cNvSpPr txBox="1"/>
          <p:nvPr/>
        </p:nvSpPr>
        <p:spPr>
          <a:xfrm>
            <a:off x="16070580" y="5328285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N = 0</a:t>
            </a:r>
          </a:p>
        </p:txBody>
      </p:sp>
      <p:sp>
        <p:nvSpPr>
          <p:cNvPr id="19" name="Flags reason"/>
          <p:cNvSpPr txBox="1"/>
          <p:nvPr/>
        </p:nvSpPr>
        <p:spPr>
          <a:xfrm>
            <a:off x="11750040" y="6425565"/>
            <a:ext cx="5577840" cy="30841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475569"/>
                </a:solidFill>
                <a:latin typeface="Calibri"/>
              </a:rPr>
              <a:t>Z = (Y == 0) = 1.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75569"/>
                </a:solidFill>
                <a:latin typeface="Calibri"/>
              </a:rPr>
              <a:t>V = 1 only if both inputs have the same sign and the result sign differs. Here A sign=1, B sign=1, result sign=0, so V=1.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75569"/>
                </a:solidFill>
                <a:latin typeface="Calibri"/>
              </a:rPr>
              <a:t>N = Y[15] = 0. C is 0 for signed ops.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219456"/>
            <a:ext cx="16459200" cy="1207008"/>
            <a:chOff x="0" y="0"/>
            <a:chExt cx="21945600" cy="16093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5705" b="-21570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21945600" cy="17331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39"/>
                </a:lnSpc>
              </a:pPr>
              <a:r>
                <a:rPr lang="en-US" sz="5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Hardware Results and Conclusion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205523" y="2398311"/>
            <a:ext cx="11494076" cy="6465418"/>
          </a:xfrm>
          <a:custGeom>
            <a:avLst/>
            <a:gdLst/>
            <a:ahLst/>
            <a:cxnLst/>
            <a:rect l="l" t="t" r="r" b="b"/>
            <a:pathLst>
              <a:path w="11494076" h="6465418">
                <a:moveTo>
                  <a:pt x="0" y="0"/>
                </a:moveTo>
                <a:lnTo>
                  <a:pt x="11494076" y="0"/>
                </a:lnTo>
                <a:lnTo>
                  <a:pt x="11494076" y="6465417"/>
                </a:lnTo>
                <a:lnTo>
                  <a:pt x="0" y="64654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930214" y="2517134"/>
            <a:ext cx="6035040" cy="174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A=FFFF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B=0001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Y=0000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Operation=SADD (opcode 1000 )</a:t>
            </a:r>
          </a:p>
        </p:txBody>
      </p:sp>
      <p:sp>
        <p:nvSpPr>
          <p:cNvPr id="9" name="Flags card"/>
          <p:cNvSpPr/>
          <p:nvPr/>
        </p:nvSpPr>
        <p:spPr>
          <a:xfrm>
            <a:off x="11930214" y="4894574"/>
            <a:ext cx="5717706" cy="475234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Flags heading"/>
          <p:cNvSpPr txBox="1"/>
          <p:nvPr/>
        </p:nvSpPr>
        <p:spPr>
          <a:xfrm>
            <a:off x="12250254" y="5123174"/>
            <a:ext cx="507762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B1F3A"/>
                </a:solidFill>
                <a:latin typeface="Calibri"/>
              </a:rPr>
              <a:t>How the flags came out</a:t>
            </a:r>
          </a:p>
        </p:txBody>
      </p:sp>
      <p:sp>
        <p:nvSpPr>
          <p:cNvPr id="11" name="Flag Z"/>
          <p:cNvSpPr/>
          <p:nvPr/>
        </p:nvSpPr>
        <p:spPr>
          <a:xfrm>
            <a:off x="12250254" y="5763254"/>
            <a:ext cx="1132246" cy="868680"/>
          </a:xfrm>
          <a:prstGeom prst="roundRect">
            <a:avLst>
              <a:gd name="adj" fmla="val 15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lag Z text"/>
          <p:cNvSpPr txBox="1"/>
          <p:nvPr/>
        </p:nvSpPr>
        <p:spPr>
          <a:xfrm>
            <a:off x="12250254" y="5763254"/>
            <a:ext cx="1132246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Z = 1</a:t>
            </a:r>
          </a:p>
        </p:txBody>
      </p:sp>
      <p:sp>
        <p:nvSpPr>
          <p:cNvPr id="13" name="Flag C"/>
          <p:cNvSpPr/>
          <p:nvPr/>
        </p:nvSpPr>
        <p:spPr>
          <a:xfrm>
            <a:off x="13565380" y="5763254"/>
            <a:ext cx="1132246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lag C text"/>
          <p:cNvSpPr txBox="1"/>
          <p:nvPr/>
        </p:nvSpPr>
        <p:spPr>
          <a:xfrm>
            <a:off x="13565380" y="5763254"/>
            <a:ext cx="1132246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C = 0</a:t>
            </a:r>
          </a:p>
        </p:txBody>
      </p:sp>
      <p:sp>
        <p:nvSpPr>
          <p:cNvPr id="15" name="Flag V"/>
          <p:cNvSpPr/>
          <p:nvPr/>
        </p:nvSpPr>
        <p:spPr>
          <a:xfrm>
            <a:off x="14880507" y="5763254"/>
            <a:ext cx="1132246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lag V text"/>
          <p:cNvSpPr txBox="1"/>
          <p:nvPr/>
        </p:nvSpPr>
        <p:spPr>
          <a:xfrm>
            <a:off x="14880507" y="5763254"/>
            <a:ext cx="1132246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V = 0</a:t>
            </a:r>
          </a:p>
        </p:txBody>
      </p:sp>
      <p:sp>
        <p:nvSpPr>
          <p:cNvPr id="17" name="Flag N"/>
          <p:cNvSpPr/>
          <p:nvPr/>
        </p:nvSpPr>
        <p:spPr>
          <a:xfrm>
            <a:off x="16195633" y="5763254"/>
            <a:ext cx="1132246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Flag N text"/>
          <p:cNvSpPr txBox="1"/>
          <p:nvPr/>
        </p:nvSpPr>
        <p:spPr>
          <a:xfrm>
            <a:off x="16195633" y="5763254"/>
            <a:ext cx="1132246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N = 0</a:t>
            </a:r>
          </a:p>
        </p:txBody>
      </p:sp>
      <p:sp>
        <p:nvSpPr>
          <p:cNvPr id="19" name="Flags reason"/>
          <p:cNvSpPr txBox="1"/>
          <p:nvPr/>
        </p:nvSpPr>
        <p:spPr>
          <a:xfrm>
            <a:off x="12250254" y="6860534"/>
            <a:ext cx="5077626" cy="19236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dirty="0">
                <a:solidFill>
                  <a:srgbClr val="475569"/>
                </a:solidFill>
                <a:latin typeface="Calibri"/>
              </a:rPr>
              <a:t>Z = (Y == 0) = 1.</a:t>
            </a:r>
          </a:p>
          <a:p>
            <a:pPr algn="l">
              <a:spcAft>
                <a:spcPts val="600"/>
              </a:spcAft>
            </a:pPr>
            <a:r>
              <a:rPr sz="2200" b="0" dirty="0">
                <a:solidFill>
                  <a:srgbClr val="475569"/>
                </a:solidFill>
                <a:latin typeface="Calibri"/>
              </a:rPr>
              <a:t>V = 1 only if both inputs have the same sign and the result sign differs. Here A sign=1, </a:t>
            </a:r>
            <a:endParaRPr lang="en-US" sz="2200" b="0" dirty="0">
              <a:solidFill>
                <a:srgbClr val="475569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sz="2200" b="0" dirty="0">
                <a:solidFill>
                  <a:srgbClr val="475569"/>
                </a:solidFill>
                <a:latin typeface="Calibri"/>
              </a:rPr>
              <a:t>B sign=0, result sign=0, so V=0.</a:t>
            </a:r>
          </a:p>
          <a:p>
            <a:pPr algn="l">
              <a:spcAft>
                <a:spcPts val="600"/>
              </a:spcAft>
            </a:pPr>
            <a:r>
              <a:rPr sz="2200" b="0" dirty="0">
                <a:solidFill>
                  <a:srgbClr val="475569"/>
                </a:solidFill>
                <a:latin typeface="Calibri"/>
              </a:rPr>
              <a:t>N = Y[15] = 0. C is 0 for signed ops.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219456"/>
            <a:ext cx="16459200" cy="1207008"/>
            <a:chOff x="0" y="0"/>
            <a:chExt cx="21945600" cy="16093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5705" b="-21570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21945600" cy="17331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39"/>
                </a:lnSpc>
              </a:pPr>
              <a:r>
                <a:rPr lang="en-US" sz="5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Hardware Results and Conclusion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424328" y="2506175"/>
            <a:ext cx="11005672" cy="6190690"/>
          </a:xfrm>
          <a:custGeom>
            <a:avLst/>
            <a:gdLst/>
            <a:ahLst/>
            <a:cxnLst/>
            <a:rect l="l" t="t" r="r" b="b"/>
            <a:pathLst>
              <a:path w="11005672" h="6190690">
                <a:moveTo>
                  <a:pt x="0" y="0"/>
                </a:moveTo>
                <a:lnTo>
                  <a:pt x="11005672" y="0"/>
                </a:lnTo>
                <a:lnTo>
                  <a:pt x="11005672" y="6190691"/>
                </a:lnTo>
                <a:lnTo>
                  <a:pt x="0" y="61906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647484" y="2865109"/>
            <a:ext cx="6035040" cy="174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A=FFFB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B=0003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Y=FFFE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Operation=SADD (opcode 1000 )</a:t>
            </a:r>
          </a:p>
        </p:txBody>
      </p:sp>
      <p:sp>
        <p:nvSpPr>
          <p:cNvPr id="9" name="Flags card"/>
          <p:cNvSpPr/>
          <p:nvPr/>
        </p:nvSpPr>
        <p:spPr>
          <a:xfrm>
            <a:off x="11647484" y="5242549"/>
            <a:ext cx="6000436" cy="440437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Flags heading"/>
          <p:cNvSpPr txBox="1"/>
          <p:nvPr/>
        </p:nvSpPr>
        <p:spPr>
          <a:xfrm>
            <a:off x="11967524" y="5471149"/>
            <a:ext cx="53603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B1F3A"/>
                </a:solidFill>
                <a:latin typeface="Calibri"/>
              </a:rPr>
              <a:t>How the flags came out</a:t>
            </a:r>
          </a:p>
        </p:txBody>
      </p:sp>
      <p:sp>
        <p:nvSpPr>
          <p:cNvPr id="11" name="Flag Z"/>
          <p:cNvSpPr/>
          <p:nvPr/>
        </p:nvSpPr>
        <p:spPr>
          <a:xfrm>
            <a:off x="11967524" y="6111229"/>
            <a:ext cx="1202928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lag Z text"/>
          <p:cNvSpPr txBox="1"/>
          <p:nvPr/>
        </p:nvSpPr>
        <p:spPr>
          <a:xfrm>
            <a:off x="11967524" y="6111229"/>
            <a:ext cx="12029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Z = 0</a:t>
            </a:r>
          </a:p>
        </p:txBody>
      </p:sp>
      <p:sp>
        <p:nvSpPr>
          <p:cNvPr id="13" name="Flag C"/>
          <p:cNvSpPr/>
          <p:nvPr/>
        </p:nvSpPr>
        <p:spPr>
          <a:xfrm>
            <a:off x="13353333" y="6111229"/>
            <a:ext cx="1202928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lag C text"/>
          <p:cNvSpPr txBox="1"/>
          <p:nvPr/>
        </p:nvSpPr>
        <p:spPr>
          <a:xfrm>
            <a:off x="13353333" y="6111229"/>
            <a:ext cx="12029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C = 0</a:t>
            </a:r>
          </a:p>
        </p:txBody>
      </p:sp>
      <p:sp>
        <p:nvSpPr>
          <p:cNvPr id="15" name="Flag V"/>
          <p:cNvSpPr/>
          <p:nvPr/>
        </p:nvSpPr>
        <p:spPr>
          <a:xfrm>
            <a:off x="14739142" y="6111229"/>
            <a:ext cx="1202928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lag V text"/>
          <p:cNvSpPr txBox="1"/>
          <p:nvPr/>
        </p:nvSpPr>
        <p:spPr>
          <a:xfrm>
            <a:off x="14739142" y="6111229"/>
            <a:ext cx="12029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V = 0</a:t>
            </a:r>
          </a:p>
        </p:txBody>
      </p:sp>
      <p:sp>
        <p:nvSpPr>
          <p:cNvPr id="17" name="Flag N"/>
          <p:cNvSpPr/>
          <p:nvPr/>
        </p:nvSpPr>
        <p:spPr>
          <a:xfrm>
            <a:off x="16124951" y="6111229"/>
            <a:ext cx="1202928" cy="868680"/>
          </a:xfrm>
          <a:prstGeom prst="roundRect">
            <a:avLst>
              <a:gd name="adj" fmla="val 15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Flag N text"/>
          <p:cNvSpPr txBox="1"/>
          <p:nvPr/>
        </p:nvSpPr>
        <p:spPr>
          <a:xfrm>
            <a:off x="16124951" y="6111229"/>
            <a:ext cx="12029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N = 1</a:t>
            </a:r>
          </a:p>
        </p:txBody>
      </p:sp>
      <p:sp>
        <p:nvSpPr>
          <p:cNvPr id="19" name="Flags reason"/>
          <p:cNvSpPr txBox="1"/>
          <p:nvPr/>
        </p:nvSpPr>
        <p:spPr>
          <a:xfrm>
            <a:off x="11967524" y="7208508"/>
            <a:ext cx="5360356" cy="19236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dirty="0">
                <a:solidFill>
                  <a:srgbClr val="475569"/>
                </a:solidFill>
                <a:latin typeface="Calibri"/>
              </a:rPr>
              <a:t>Z = (Y == 0) = 0.</a:t>
            </a:r>
          </a:p>
          <a:p>
            <a:pPr algn="l">
              <a:spcAft>
                <a:spcPts val="600"/>
              </a:spcAft>
            </a:pPr>
            <a:r>
              <a:rPr sz="2200" b="0" dirty="0">
                <a:solidFill>
                  <a:srgbClr val="475569"/>
                </a:solidFill>
                <a:latin typeface="Calibri"/>
              </a:rPr>
              <a:t>V = 1 only if both inputs have the same sign and the result sign differs. Here A sign=1, </a:t>
            </a:r>
            <a:endParaRPr lang="en-US" sz="2200" b="0" dirty="0">
              <a:solidFill>
                <a:srgbClr val="475569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sz="2200" b="0" dirty="0">
                <a:solidFill>
                  <a:srgbClr val="475569"/>
                </a:solidFill>
                <a:latin typeface="Calibri"/>
              </a:rPr>
              <a:t>B sign=0, result sign=1, so V=0.</a:t>
            </a:r>
          </a:p>
          <a:p>
            <a:pPr algn="l">
              <a:spcAft>
                <a:spcPts val="600"/>
              </a:spcAft>
            </a:pPr>
            <a:r>
              <a:rPr sz="2200" b="0" dirty="0">
                <a:solidFill>
                  <a:srgbClr val="475569"/>
                </a:solidFill>
                <a:latin typeface="Calibri"/>
              </a:rPr>
              <a:t>N = Y[15] = 1. C is 0 for signed ops.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219456"/>
            <a:ext cx="16459200" cy="1207008"/>
            <a:chOff x="0" y="0"/>
            <a:chExt cx="21945600" cy="16093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5705" b="-21570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21945600" cy="17331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39"/>
                </a:lnSpc>
              </a:pPr>
              <a:r>
                <a:rPr lang="en-US" sz="5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Hardware Results and Conclusion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305565" y="2756298"/>
            <a:ext cx="10844591" cy="6100083"/>
          </a:xfrm>
          <a:custGeom>
            <a:avLst/>
            <a:gdLst/>
            <a:ahLst/>
            <a:cxnLst/>
            <a:rect l="l" t="t" r="r" b="b"/>
            <a:pathLst>
              <a:path w="10844591" h="6100083">
                <a:moveTo>
                  <a:pt x="0" y="0"/>
                </a:moveTo>
                <a:lnTo>
                  <a:pt x="10844592" y="0"/>
                </a:lnTo>
                <a:lnTo>
                  <a:pt x="10844592" y="6100083"/>
                </a:lnTo>
                <a:lnTo>
                  <a:pt x="0" y="61000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430000" y="2082165"/>
            <a:ext cx="6035040" cy="174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A=7FFF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B=FFFF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Y=8000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Operation=SSUB (opcode 1001 )</a:t>
            </a:r>
          </a:p>
        </p:txBody>
      </p:sp>
      <p:sp>
        <p:nvSpPr>
          <p:cNvPr id="9" name="Flags card"/>
          <p:cNvSpPr/>
          <p:nvPr/>
        </p:nvSpPr>
        <p:spPr>
          <a:xfrm>
            <a:off x="11430000" y="4459605"/>
            <a:ext cx="6217920" cy="51873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Flags heading"/>
          <p:cNvSpPr txBox="1"/>
          <p:nvPr/>
        </p:nvSpPr>
        <p:spPr>
          <a:xfrm>
            <a:off x="11750040" y="4688205"/>
            <a:ext cx="5577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B1F3A"/>
                </a:solidFill>
                <a:latin typeface="Calibri"/>
              </a:rPr>
              <a:t>How the flags came out</a:t>
            </a:r>
          </a:p>
        </p:txBody>
      </p:sp>
      <p:sp>
        <p:nvSpPr>
          <p:cNvPr id="11" name="Flag Z"/>
          <p:cNvSpPr/>
          <p:nvPr/>
        </p:nvSpPr>
        <p:spPr>
          <a:xfrm>
            <a:off x="11750040" y="5328285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lag Z text"/>
          <p:cNvSpPr txBox="1"/>
          <p:nvPr/>
        </p:nvSpPr>
        <p:spPr>
          <a:xfrm>
            <a:off x="11750040" y="5328285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Z = 0</a:t>
            </a:r>
          </a:p>
        </p:txBody>
      </p:sp>
      <p:sp>
        <p:nvSpPr>
          <p:cNvPr id="13" name="Flag C"/>
          <p:cNvSpPr/>
          <p:nvPr/>
        </p:nvSpPr>
        <p:spPr>
          <a:xfrm>
            <a:off x="13190219" y="5328285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lag C text"/>
          <p:cNvSpPr txBox="1"/>
          <p:nvPr/>
        </p:nvSpPr>
        <p:spPr>
          <a:xfrm>
            <a:off x="13190219" y="5328285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C = 0</a:t>
            </a:r>
          </a:p>
        </p:txBody>
      </p:sp>
      <p:sp>
        <p:nvSpPr>
          <p:cNvPr id="15" name="Flag V"/>
          <p:cNvSpPr/>
          <p:nvPr/>
        </p:nvSpPr>
        <p:spPr>
          <a:xfrm>
            <a:off x="14630400" y="5328285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lag V text"/>
          <p:cNvSpPr txBox="1"/>
          <p:nvPr/>
        </p:nvSpPr>
        <p:spPr>
          <a:xfrm>
            <a:off x="14630400" y="5328285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V = 1</a:t>
            </a:r>
          </a:p>
        </p:txBody>
      </p:sp>
      <p:sp>
        <p:nvSpPr>
          <p:cNvPr id="17" name="Flag N"/>
          <p:cNvSpPr/>
          <p:nvPr/>
        </p:nvSpPr>
        <p:spPr>
          <a:xfrm>
            <a:off x="16070580" y="5328285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Flag N text"/>
          <p:cNvSpPr txBox="1"/>
          <p:nvPr/>
        </p:nvSpPr>
        <p:spPr>
          <a:xfrm>
            <a:off x="16070580" y="5328285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N = 1</a:t>
            </a:r>
          </a:p>
        </p:txBody>
      </p:sp>
      <p:sp>
        <p:nvSpPr>
          <p:cNvPr id="19" name="Flags reason"/>
          <p:cNvSpPr txBox="1"/>
          <p:nvPr/>
        </p:nvSpPr>
        <p:spPr>
          <a:xfrm>
            <a:off x="11750040" y="6425565"/>
            <a:ext cx="5577840" cy="19236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dirty="0">
                <a:solidFill>
                  <a:srgbClr val="475569"/>
                </a:solidFill>
                <a:latin typeface="Calibri"/>
              </a:rPr>
              <a:t>Z = (Y == 0) = 0.</a:t>
            </a:r>
          </a:p>
          <a:p>
            <a:pPr algn="l">
              <a:spcAft>
                <a:spcPts val="600"/>
              </a:spcAft>
            </a:pPr>
            <a:r>
              <a:rPr sz="2200" b="0" dirty="0">
                <a:solidFill>
                  <a:srgbClr val="475569"/>
                </a:solidFill>
                <a:latin typeface="Calibri"/>
              </a:rPr>
              <a:t>V = 1 only if the inputs have different signs and the result sign differs from A. Here A sign=0, </a:t>
            </a:r>
            <a:endParaRPr lang="en-US" sz="2200" b="0" dirty="0">
              <a:solidFill>
                <a:srgbClr val="475569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sz="2200" b="0" dirty="0">
                <a:solidFill>
                  <a:srgbClr val="475569"/>
                </a:solidFill>
                <a:latin typeface="Calibri"/>
              </a:rPr>
              <a:t>B sign=1, result sign=1, so V=1.</a:t>
            </a:r>
          </a:p>
          <a:p>
            <a:pPr algn="l">
              <a:spcAft>
                <a:spcPts val="600"/>
              </a:spcAft>
            </a:pPr>
            <a:r>
              <a:rPr sz="2200" b="0" dirty="0">
                <a:solidFill>
                  <a:srgbClr val="475569"/>
                </a:solidFill>
                <a:latin typeface="Calibri"/>
              </a:rPr>
              <a:t>N = Y[15] = 1. C is 0 for signed ops.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219456"/>
            <a:ext cx="16459200" cy="1207008"/>
            <a:chOff x="0" y="0"/>
            <a:chExt cx="21945600" cy="16093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5705" b="-21570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21945600" cy="17331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39"/>
                </a:lnSpc>
              </a:pPr>
              <a:r>
                <a:rPr lang="en-US" sz="5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Hardware Results and Conclusion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501302" y="2488079"/>
            <a:ext cx="10450151" cy="5878210"/>
          </a:xfrm>
          <a:custGeom>
            <a:avLst/>
            <a:gdLst/>
            <a:ahLst/>
            <a:cxnLst/>
            <a:rect l="l" t="t" r="r" b="b"/>
            <a:pathLst>
              <a:path w="10450151" h="5878210">
                <a:moveTo>
                  <a:pt x="0" y="0"/>
                </a:moveTo>
                <a:lnTo>
                  <a:pt x="10450150" y="0"/>
                </a:lnTo>
                <a:lnTo>
                  <a:pt x="10450150" y="5878210"/>
                </a:lnTo>
                <a:lnTo>
                  <a:pt x="0" y="58782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430000" y="2082165"/>
            <a:ext cx="6035040" cy="174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A=0005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B=0005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Y=0000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Operation=SSUB (opcode 1001 )</a:t>
            </a:r>
          </a:p>
        </p:txBody>
      </p:sp>
      <p:sp>
        <p:nvSpPr>
          <p:cNvPr id="9" name="Flags card"/>
          <p:cNvSpPr/>
          <p:nvPr/>
        </p:nvSpPr>
        <p:spPr>
          <a:xfrm>
            <a:off x="11430000" y="4459605"/>
            <a:ext cx="6217920" cy="51873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Flags heading"/>
          <p:cNvSpPr txBox="1"/>
          <p:nvPr/>
        </p:nvSpPr>
        <p:spPr>
          <a:xfrm>
            <a:off x="11750040" y="4688205"/>
            <a:ext cx="5577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B1F3A"/>
                </a:solidFill>
                <a:latin typeface="Calibri"/>
              </a:rPr>
              <a:t>How the flags came out</a:t>
            </a:r>
          </a:p>
        </p:txBody>
      </p:sp>
      <p:sp>
        <p:nvSpPr>
          <p:cNvPr id="11" name="Flag Z"/>
          <p:cNvSpPr/>
          <p:nvPr/>
        </p:nvSpPr>
        <p:spPr>
          <a:xfrm>
            <a:off x="11750040" y="5328285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lag Z text"/>
          <p:cNvSpPr txBox="1"/>
          <p:nvPr/>
        </p:nvSpPr>
        <p:spPr>
          <a:xfrm>
            <a:off x="11750040" y="5328285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Z = 1</a:t>
            </a:r>
          </a:p>
        </p:txBody>
      </p:sp>
      <p:sp>
        <p:nvSpPr>
          <p:cNvPr id="13" name="Flag C"/>
          <p:cNvSpPr/>
          <p:nvPr/>
        </p:nvSpPr>
        <p:spPr>
          <a:xfrm>
            <a:off x="13190219" y="5328285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lag C text"/>
          <p:cNvSpPr txBox="1"/>
          <p:nvPr/>
        </p:nvSpPr>
        <p:spPr>
          <a:xfrm>
            <a:off x="13190219" y="5328285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C = 0</a:t>
            </a:r>
          </a:p>
        </p:txBody>
      </p:sp>
      <p:sp>
        <p:nvSpPr>
          <p:cNvPr id="15" name="Flag V"/>
          <p:cNvSpPr/>
          <p:nvPr/>
        </p:nvSpPr>
        <p:spPr>
          <a:xfrm>
            <a:off x="14630400" y="5328285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lag V text"/>
          <p:cNvSpPr txBox="1"/>
          <p:nvPr/>
        </p:nvSpPr>
        <p:spPr>
          <a:xfrm>
            <a:off x="14630400" y="5328285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V = 0</a:t>
            </a:r>
          </a:p>
        </p:txBody>
      </p:sp>
      <p:sp>
        <p:nvSpPr>
          <p:cNvPr id="17" name="Flag N"/>
          <p:cNvSpPr/>
          <p:nvPr/>
        </p:nvSpPr>
        <p:spPr>
          <a:xfrm>
            <a:off x="16070580" y="5328285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Flag N text"/>
          <p:cNvSpPr txBox="1"/>
          <p:nvPr/>
        </p:nvSpPr>
        <p:spPr>
          <a:xfrm>
            <a:off x="16070580" y="5328285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N = 0</a:t>
            </a:r>
          </a:p>
        </p:txBody>
      </p:sp>
      <p:sp>
        <p:nvSpPr>
          <p:cNvPr id="19" name="Flags reason"/>
          <p:cNvSpPr txBox="1"/>
          <p:nvPr/>
        </p:nvSpPr>
        <p:spPr>
          <a:xfrm>
            <a:off x="11750040" y="6425565"/>
            <a:ext cx="5577840" cy="19236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dirty="0">
                <a:solidFill>
                  <a:srgbClr val="475569"/>
                </a:solidFill>
                <a:latin typeface="Calibri"/>
              </a:rPr>
              <a:t>Z = (Y == 0) = 1.</a:t>
            </a:r>
          </a:p>
          <a:p>
            <a:pPr algn="l">
              <a:spcAft>
                <a:spcPts val="600"/>
              </a:spcAft>
            </a:pPr>
            <a:r>
              <a:rPr sz="2200" b="0" dirty="0">
                <a:solidFill>
                  <a:srgbClr val="475569"/>
                </a:solidFill>
                <a:latin typeface="Calibri"/>
              </a:rPr>
              <a:t>V = 1 only if the inputs have different signs and the result sign differs from A. Here A sign=0, </a:t>
            </a:r>
            <a:endParaRPr lang="en-US" sz="2200" b="0" dirty="0">
              <a:solidFill>
                <a:srgbClr val="475569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sz="2200" b="0" dirty="0">
                <a:solidFill>
                  <a:srgbClr val="475569"/>
                </a:solidFill>
                <a:latin typeface="Calibri"/>
              </a:rPr>
              <a:t>B sign=0, result sign=0, so V=0.</a:t>
            </a:r>
          </a:p>
          <a:p>
            <a:pPr algn="l">
              <a:spcAft>
                <a:spcPts val="600"/>
              </a:spcAft>
            </a:pPr>
            <a:r>
              <a:rPr sz="2200" b="0" dirty="0">
                <a:solidFill>
                  <a:srgbClr val="475569"/>
                </a:solidFill>
                <a:latin typeface="Calibri"/>
              </a:rPr>
              <a:t>N = Y[15] = 0. C is 0 for signed ops.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219456"/>
            <a:ext cx="16459200" cy="1207008"/>
            <a:chOff x="0" y="0"/>
            <a:chExt cx="21945600" cy="16093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5705" b="-21570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21945600" cy="17331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39"/>
                </a:lnSpc>
              </a:pPr>
              <a:r>
                <a:rPr lang="en-US" sz="5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Hardware Results and Conclusion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340046" y="2543087"/>
            <a:ext cx="11146101" cy="6269682"/>
          </a:xfrm>
          <a:custGeom>
            <a:avLst/>
            <a:gdLst/>
            <a:ahLst/>
            <a:cxnLst/>
            <a:rect l="l" t="t" r="r" b="b"/>
            <a:pathLst>
              <a:path w="11146101" h="6269682">
                <a:moveTo>
                  <a:pt x="0" y="0"/>
                </a:moveTo>
                <a:lnTo>
                  <a:pt x="11146101" y="0"/>
                </a:lnTo>
                <a:lnTo>
                  <a:pt x="11146101" y="6269682"/>
                </a:lnTo>
                <a:lnTo>
                  <a:pt x="0" y="62696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756227" y="2476412"/>
            <a:ext cx="6035040" cy="174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A=4000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B=0002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Y=8000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Operation=SMUL (opcode 1010 )</a:t>
            </a:r>
          </a:p>
        </p:txBody>
      </p:sp>
      <p:sp>
        <p:nvSpPr>
          <p:cNvPr id="9" name="Flags card"/>
          <p:cNvSpPr/>
          <p:nvPr/>
        </p:nvSpPr>
        <p:spPr>
          <a:xfrm>
            <a:off x="11756227" y="4853852"/>
            <a:ext cx="5891693" cy="47930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Flags heading"/>
          <p:cNvSpPr txBox="1"/>
          <p:nvPr/>
        </p:nvSpPr>
        <p:spPr>
          <a:xfrm>
            <a:off x="12076266" y="5082452"/>
            <a:ext cx="525161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B1F3A"/>
                </a:solidFill>
                <a:latin typeface="Calibri"/>
              </a:rPr>
              <a:t>How the flags came out</a:t>
            </a:r>
          </a:p>
        </p:txBody>
      </p:sp>
      <p:sp>
        <p:nvSpPr>
          <p:cNvPr id="11" name="Flag Z"/>
          <p:cNvSpPr/>
          <p:nvPr/>
        </p:nvSpPr>
        <p:spPr>
          <a:xfrm>
            <a:off x="12076266" y="5722532"/>
            <a:ext cx="1175743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lag Z text"/>
          <p:cNvSpPr txBox="1"/>
          <p:nvPr/>
        </p:nvSpPr>
        <p:spPr>
          <a:xfrm>
            <a:off x="12076266" y="5722532"/>
            <a:ext cx="1175743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Z = 0</a:t>
            </a:r>
          </a:p>
        </p:txBody>
      </p:sp>
      <p:sp>
        <p:nvSpPr>
          <p:cNvPr id="13" name="Flag C"/>
          <p:cNvSpPr/>
          <p:nvPr/>
        </p:nvSpPr>
        <p:spPr>
          <a:xfrm>
            <a:off x="13434890" y="5722532"/>
            <a:ext cx="1175743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lag C text"/>
          <p:cNvSpPr txBox="1"/>
          <p:nvPr/>
        </p:nvSpPr>
        <p:spPr>
          <a:xfrm>
            <a:off x="13434890" y="5722532"/>
            <a:ext cx="1175743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C = 0</a:t>
            </a:r>
          </a:p>
        </p:txBody>
      </p:sp>
      <p:sp>
        <p:nvSpPr>
          <p:cNvPr id="15" name="Flag V"/>
          <p:cNvSpPr/>
          <p:nvPr/>
        </p:nvSpPr>
        <p:spPr>
          <a:xfrm>
            <a:off x="14793513" y="5722532"/>
            <a:ext cx="1175743" cy="868680"/>
          </a:xfrm>
          <a:prstGeom prst="roundRect">
            <a:avLst>
              <a:gd name="adj" fmla="val 15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lag V text"/>
          <p:cNvSpPr txBox="1"/>
          <p:nvPr/>
        </p:nvSpPr>
        <p:spPr>
          <a:xfrm>
            <a:off x="14793513" y="5722532"/>
            <a:ext cx="1175743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V = 1</a:t>
            </a:r>
          </a:p>
        </p:txBody>
      </p:sp>
      <p:sp>
        <p:nvSpPr>
          <p:cNvPr id="17" name="Flag N"/>
          <p:cNvSpPr/>
          <p:nvPr/>
        </p:nvSpPr>
        <p:spPr>
          <a:xfrm>
            <a:off x="16152136" y="5722532"/>
            <a:ext cx="1175743" cy="868680"/>
          </a:xfrm>
          <a:prstGeom prst="roundRect">
            <a:avLst>
              <a:gd name="adj" fmla="val 15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Flag N text"/>
          <p:cNvSpPr txBox="1"/>
          <p:nvPr/>
        </p:nvSpPr>
        <p:spPr>
          <a:xfrm>
            <a:off x="16152136" y="5722532"/>
            <a:ext cx="1175743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N = 1</a:t>
            </a:r>
          </a:p>
        </p:txBody>
      </p:sp>
      <p:sp>
        <p:nvSpPr>
          <p:cNvPr id="19" name="Flags reason"/>
          <p:cNvSpPr txBox="1"/>
          <p:nvPr/>
        </p:nvSpPr>
        <p:spPr>
          <a:xfrm>
            <a:off x="12076266" y="6819812"/>
            <a:ext cx="5251613" cy="26899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475569"/>
                </a:solidFill>
                <a:latin typeface="Calibri"/>
              </a:rPr>
              <a:t>Z = (Y == 0) = 0.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75569"/>
                </a:solidFill>
                <a:latin typeface="Calibri"/>
              </a:rPr>
              <a:t>True product = 16384 x 2 = 32768. V = 1 if it is outside -32768..32767, so V=1.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75569"/>
                </a:solidFill>
                <a:latin typeface="Calibri"/>
              </a:rPr>
              <a:t>N = Y[15] = 1.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219456"/>
            <a:ext cx="16459200" cy="1207008"/>
            <a:chOff x="0" y="0"/>
            <a:chExt cx="21945600" cy="16093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5705" b="-21570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21945600" cy="17331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39"/>
                </a:lnSpc>
              </a:pPr>
              <a:r>
                <a:rPr lang="en-US" sz="5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Hardware Results and Conclusion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154247" y="2510571"/>
            <a:ext cx="11080017" cy="6232509"/>
          </a:xfrm>
          <a:custGeom>
            <a:avLst/>
            <a:gdLst/>
            <a:ahLst/>
            <a:cxnLst/>
            <a:rect l="l" t="t" r="r" b="b"/>
            <a:pathLst>
              <a:path w="11080017" h="6232509">
                <a:moveTo>
                  <a:pt x="0" y="0"/>
                </a:moveTo>
                <a:lnTo>
                  <a:pt x="11080017" y="0"/>
                </a:lnTo>
                <a:lnTo>
                  <a:pt x="11080017" y="6232510"/>
                </a:lnTo>
                <a:lnTo>
                  <a:pt x="0" y="62325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430000" y="2082165"/>
            <a:ext cx="6035040" cy="174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A=FFFF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B=FFFF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Y=0001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Operation=SMUL (opcode 1010 )</a:t>
            </a:r>
          </a:p>
        </p:txBody>
      </p:sp>
      <p:sp>
        <p:nvSpPr>
          <p:cNvPr id="9" name="Flags card"/>
          <p:cNvSpPr/>
          <p:nvPr/>
        </p:nvSpPr>
        <p:spPr>
          <a:xfrm>
            <a:off x="11430000" y="4459605"/>
            <a:ext cx="6217920" cy="51873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Flags heading"/>
          <p:cNvSpPr txBox="1"/>
          <p:nvPr/>
        </p:nvSpPr>
        <p:spPr>
          <a:xfrm>
            <a:off x="11750040" y="4688205"/>
            <a:ext cx="5577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B1F3A"/>
                </a:solidFill>
                <a:latin typeface="Calibri"/>
              </a:rPr>
              <a:t>How the flags came out</a:t>
            </a:r>
          </a:p>
        </p:txBody>
      </p:sp>
      <p:sp>
        <p:nvSpPr>
          <p:cNvPr id="11" name="Flag Z"/>
          <p:cNvSpPr/>
          <p:nvPr/>
        </p:nvSpPr>
        <p:spPr>
          <a:xfrm>
            <a:off x="11750040" y="5328285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lag Z text"/>
          <p:cNvSpPr txBox="1"/>
          <p:nvPr/>
        </p:nvSpPr>
        <p:spPr>
          <a:xfrm>
            <a:off x="11750040" y="5328285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Z = 0</a:t>
            </a:r>
          </a:p>
        </p:txBody>
      </p:sp>
      <p:sp>
        <p:nvSpPr>
          <p:cNvPr id="13" name="Flag C"/>
          <p:cNvSpPr/>
          <p:nvPr/>
        </p:nvSpPr>
        <p:spPr>
          <a:xfrm>
            <a:off x="13190219" y="5328285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lag C text"/>
          <p:cNvSpPr txBox="1"/>
          <p:nvPr/>
        </p:nvSpPr>
        <p:spPr>
          <a:xfrm>
            <a:off x="13190219" y="5328285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C = 0</a:t>
            </a:r>
          </a:p>
        </p:txBody>
      </p:sp>
      <p:sp>
        <p:nvSpPr>
          <p:cNvPr id="15" name="Flag V"/>
          <p:cNvSpPr/>
          <p:nvPr/>
        </p:nvSpPr>
        <p:spPr>
          <a:xfrm>
            <a:off x="14630400" y="5328285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lag V text"/>
          <p:cNvSpPr txBox="1"/>
          <p:nvPr/>
        </p:nvSpPr>
        <p:spPr>
          <a:xfrm>
            <a:off x="14630400" y="5328285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V = 0</a:t>
            </a:r>
          </a:p>
        </p:txBody>
      </p:sp>
      <p:sp>
        <p:nvSpPr>
          <p:cNvPr id="17" name="Flag N"/>
          <p:cNvSpPr/>
          <p:nvPr/>
        </p:nvSpPr>
        <p:spPr>
          <a:xfrm>
            <a:off x="16070580" y="5328285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Flag N text"/>
          <p:cNvSpPr txBox="1"/>
          <p:nvPr/>
        </p:nvSpPr>
        <p:spPr>
          <a:xfrm>
            <a:off x="16070580" y="5328285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N = 0</a:t>
            </a:r>
          </a:p>
        </p:txBody>
      </p:sp>
      <p:sp>
        <p:nvSpPr>
          <p:cNvPr id="19" name="Flags reason"/>
          <p:cNvSpPr txBox="1"/>
          <p:nvPr/>
        </p:nvSpPr>
        <p:spPr>
          <a:xfrm>
            <a:off x="11750040" y="6425565"/>
            <a:ext cx="5577840" cy="30841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475569"/>
                </a:solidFill>
                <a:latin typeface="Calibri"/>
              </a:rPr>
              <a:t>Z = (Y == 0) = 0.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75569"/>
                </a:solidFill>
                <a:latin typeface="Calibri"/>
              </a:rPr>
              <a:t>True product = -1 x -1 = 1. V = 1 if it is outside -32768..32767, so V=0.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75569"/>
                </a:solidFill>
                <a:latin typeface="Calibri"/>
              </a:rPr>
              <a:t>N = Y[15] = 0.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219456"/>
            <a:ext cx="16459200" cy="1207008"/>
            <a:chOff x="0" y="0"/>
            <a:chExt cx="21945600" cy="16093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5705" b="-21570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21945600" cy="17331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39"/>
                </a:lnSpc>
              </a:pPr>
              <a:r>
                <a:rPr lang="en-US" sz="5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Hardware Results and Conclusion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314265" y="2802175"/>
            <a:ext cx="11115735" cy="6456125"/>
          </a:xfrm>
          <a:custGeom>
            <a:avLst/>
            <a:gdLst/>
            <a:ahLst/>
            <a:cxnLst/>
            <a:rect l="l" t="t" r="r" b="b"/>
            <a:pathLst>
              <a:path w="11115735" h="6456125">
                <a:moveTo>
                  <a:pt x="0" y="0"/>
                </a:moveTo>
                <a:lnTo>
                  <a:pt x="11115735" y="0"/>
                </a:lnTo>
                <a:lnTo>
                  <a:pt x="11115735" y="6456125"/>
                </a:lnTo>
                <a:lnTo>
                  <a:pt x="0" y="64561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255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430000" y="2082165"/>
            <a:ext cx="6035040" cy="174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A=000A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B=FFFE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Y=FFFB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Operation=SDIV (opcode 1011)</a:t>
            </a:r>
          </a:p>
        </p:txBody>
      </p:sp>
      <p:sp>
        <p:nvSpPr>
          <p:cNvPr id="9" name="Flags card"/>
          <p:cNvSpPr/>
          <p:nvPr/>
        </p:nvSpPr>
        <p:spPr>
          <a:xfrm>
            <a:off x="11430000" y="4459605"/>
            <a:ext cx="6217920" cy="51873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Flags heading"/>
          <p:cNvSpPr txBox="1"/>
          <p:nvPr/>
        </p:nvSpPr>
        <p:spPr>
          <a:xfrm>
            <a:off x="11750040" y="4688205"/>
            <a:ext cx="5577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B1F3A"/>
                </a:solidFill>
                <a:latin typeface="Calibri"/>
              </a:rPr>
              <a:t>How the flags came out</a:t>
            </a:r>
          </a:p>
        </p:txBody>
      </p:sp>
      <p:sp>
        <p:nvSpPr>
          <p:cNvPr id="11" name="Flag Z"/>
          <p:cNvSpPr/>
          <p:nvPr/>
        </p:nvSpPr>
        <p:spPr>
          <a:xfrm>
            <a:off x="11750040" y="5328285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lag Z text"/>
          <p:cNvSpPr txBox="1"/>
          <p:nvPr/>
        </p:nvSpPr>
        <p:spPr>
          <a:xfrm>
            <a:off x="11750040" y="5328285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Z = 0</a:t>
            </a:r>
          </a:p>
        </p:txBody>
      </p:sp>
      <p:sp>
        <p:nvSpPr>
          <p:cNvPr id="13" name="Flag C"/>
          <p:cNvSpPr/>
          <p:nvPr/>
        </p:nvSpPr>
        <p:spPr>
          <a:xfrm>
            <a:off x="13190219" y="5328285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lag C text"/>
          <p:cNvSpPr txBox="1"/>
          <p:nvPr/>
        </p:nvSpPr>
        <p:spPr>
          <a:xfrm>
            <a:off x="13190219" y="5328285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C = 0</a:t>
            </a:r>
          </a:p>
        </p:txBody>
      </p:sp>
      <p:sp>
        <p:nvSpPr>
          <p:cNvPr id="15" name="Flag V"/>
          <p:cNvSpPr/>
          <p:nvPr/>
        </p:nvSpPr>
        <p:spPr>
          <a:xfrm>
            <a:off x="14630400" y="5328285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lag V text"/>
          <p:cNvSpPr txBox="1"/>
          <p:nvPr/>
        </p:nvSpPr>
        <p:spPr>
          <a:xfrm>
            <a:off x="14630400" y="5328285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V = 0</a:t>
            </a:r>
          </a:p>
        </p:txBody>
      </p:sp>
      <p:sp>
        <p:nvSpPr>
          <p:cNvPr id="17" name="Flag N"/>
          <p:cNvSpPr/>
          <p:nvPr/>
        </p:nvSpPr>
        <p:spPr>
          <a:xfrm>
            <a:off x="16070580" y="5328285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Flag N text"/>
          <p:cNvSpPr txBox="1"/>
          <p:nvPr/>
        </p:nvSpPr>
        <p:spPr>
          <a:xfrm>
            <a:off x="16070580" y="5328285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N = 1</a:t>
            </a:r>
          </a:p>
        </p:txBody>
      </p:sp>
      <p:sp>
        <p:nvSpPr>
          <p:cNvPr id="19" name="Flags reason"/>
          <p:cNvSpPr txBox="1"/>
          <p:nvPr/>
        </p:nvSpPr>
        <p:spPr>
          <a:xfrm>
            <a:off x="11750040" y="6425565"/>
            <a:ext cx="5577840" cy="30841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475569"/>
                </a:solidFill>
                <a:latin typeface="Calibri"/>
              </a:rPr>
              <a:t>Z = (Y == 0) = 0.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75569"/>
                </a:solidFill>
                <a:latin typeface="Calibri"/>
              </a:rPr>
              <a:t>Signed divide: 10 / -2 = -5 (truncates toward zero). V = 0.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75569"/>
                </a:solidFill>
                <a:latin typeface="Calibri"/>
              </a:rPr>
              <a:t>N = Y[15] = 1, set because the quotient is negative.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219456"/>
            <a:ext cx="16459200" cy="1207008"/>
            <a:chOff x="0" y="0"/>
            <a:chExt cx="21945600" cy="16093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5705" b="-21570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21945600" cy="17331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39"/>
                </a:lnSpc>
              </a:pPr>
              <a:r>
                <a:rPr lang="en-US" sz="5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Hardware Results and Conclusion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205523" y="2581866"/>
            <a:ext cx="10911708" cy="6137836"/>
          </a:xfrm>
          <a:custGeom>
            <a:avLst/>
            <a:gdLst/>
            <a:ahLst/>
            <a:cxnLst/>
            <a:rect l="l" t="t" r="r" b="b"/>
            <a:pathLst>
              <a:path w="10911708" h="6137836">
                <a:moveTo>
                  <a:pt x="0" y="0"/>
                </a:moveTo>
                <a:lnTo>
                  <a:pt x="10911708" y="0"/>
                </a:lnTo>
                <a:lnTo>
                  <a:pt x="10911708" y="6137835"/>
                </a:lnTo>
                <a:lnTo>
                  <a:pt x="0" y="61378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430000" y="2082165"/>
            <a:ext cx="6035040" cy="174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A=0005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B=0000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Y=FFFF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Operation=SDIV (opcode 1011 )</a:t>
            </a:r>
          </a:p>
        </p:txBody>
      </p:sp>
      <p:sp>
        <p:nvSpPr>
          <p:cNvPr id="9" name="Flags card"/>
          <p:cNvSpPr/>
          <p:nvPr/>
        </p:nvSpPr>
        <p:spPr>
          <a:xfrm>
            <a:off x="11430000" y="4459605"/>
            <a:ext cx="6217920" cy="51873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Flags heading"/>
          <p:cNvSpPr txBox="1"/>
          <p:nvPr/>
        </p:nvSpPr>
        <p:spPr>
          <a:xfrm>
            <a:off x="11750040" y="4688205"/>
            <a:ext cx="5577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B1F3A"/>
                </a:solidFill>
                <a:latin typeface="Calibri"/>
              </a:rPr>
              <a:t>How the flags came out</a:t>
            </a:r>
          </a:p>
        </p:txBody>
      </p:sp>
      <p:sp>
        <p:nvSpPr>
          <p:cNvPr id="11" name="Flag Z"/>
          <p:cNvSpPr/>
          <p:nvPr/>
        </p:nvSpPr>
        <p:spPr>
          <a:xfrm>
            <a:off x="11750040" y="5328285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lag Z text"/>
          <p:cNvSpPr txBox="1"/>
          <p:nvPr/>
        </p:nvSpPr>
        <p:spPr>
          <a:xfrm>
            <a:off x="11750040" y="5328285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Z = 0</a:t>
            </a:r>
          </a:p>
        </p:txBody>
      </p:sp>
      <p:sp>
        <p:nvSpPr>
          <p:cNvPr id="13" name="Flag C"/>
          <p:cNvSpPr/>
          <p:nvPr/>
        </p:nvSpPr>
        <p:spPr>
          <a:xfrm>
            <a:off x="13190219" y="5328285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lag C text"/>
          <p:cNvSpPr txBox="1"/>
          <p:nvPr/>
        </p:nvSpPr>
        <p:spPr>
          <a:xfrm>
            <a:off x="13190219" y="5328285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C = 0</a:t>
            </a:r>
          </a:p>
        </p:txBody>
      </p:sp>
      <p:sp>
        <p:nvSpPr>
          <p:cNvPr id="15" name="Flag V"/>
          <p:cNvSpPr/>
          <p:nvPr/>
        </p:nvSpPr>
        <p:spPr>
          <a:xfrm>
            <a:off x="14630400" y="5328285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lag V text"/>
          <p:cNvSpPr txBox="1"/>
          <p:nvPr/>
        </p:nvSpPr>
        <p:spPr>
          <a:xfrm>
            <a:off x="14630398" y="5328285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dirty="0">
                <a:solidFill>
                  <a:srgbClr val="FFFFFF"/>
                </a:solidFill>
                <a:latin typeface="Calibri"/>
              </a:rPr>
              <a:t>V = 1</a:t>
            </a:r>
          </a:p>
        </p:txBody>
      </p:sp>
      <p:sp>
        <p:nvSpPr>
          <p:cNvPr id="17" name="Flag N"/>
          <p:cNvSpPr/>
          <p:nvPr/>
        </p:nvSpPr>
        <p:spPr>
          <a:xfrm>
            <a:off x="16070580" y="5328285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Flag N text"/>
          <p:cNvSpPr txBox="1"/>
          <p:nvPr/>
        </p:nvSpPr>
        <p:spPr>
          <a:xfrm>
            <a:off x="16070580" y="5328285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N = 0</a:t>
            </a:r>
          </a:p>
        </p:txBody>
      </p:sp>
      <p:sp>
        <p:nvSpPr>
          <p:cNvPr id="19" name="Flags reason"/>
          <p:cNvSpPr txBox="1"/>
          <p:nvPr/>
        </p:nvSpPr>
        <p:spPr>
          <a:xfrm>
            <a:off x="11750040" y="6425565"/>
            <a:ext cx="5577840" cy="30841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dirty="0">
                <a:solidFill>
                  <a:srgbClr val="475569"/>
                </a:solidFill>
                <a:latin typeface="Calibri"/>
              </a:rPr>
              <a:t>Z = (Y == 0) = 0.</a:t>
            </a:r>
          </a:p>
          <a:p>
            <a:pPr algn="l">
              <a:spcAft>
                <a:spcPts val="600"/>
              </a:spcAft>
            </a:pPr>
            <a:r>
              <a:rPr sz="2200" b="0" dirty="0">
                <a:solidFill>
                  <a:srgbClr val="475569"/>
                </a:solidFill>
                <a:latin typeface="Calibri"/>
              </a:rPr>
              <a:t>B = 0: Y = FFFF and V = 1 (divide-by-zero).</a:t>
            </a:r>
          </a:p>
          <a:p>
            <a:pPr algn="l">
              <a:spcAft>
                <a:spcPts val="600"/>
              </a:spcAft>
            </a:pPr>
            <a:r>
              <a:rPr sz="2200" b="0" dirty="0">
                <a:solidFill>
                  <a:srgbClr val="475569"/>
                </a:solidFill>
                <a:latin typeface="Calibri"/>
              </a:rPr>
              <a:t>N = Y[15] = 1 (FFFF has bit 15 set).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219456"/>
            <a:ext cx="16459200" cy="1207008"/>
            <a:chOff x="0" y="0"/>
            <a:chExt cx="21945600" cy="16093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5705" b="-21570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21945600" cy="17331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39"/>
                </a:lnSpc>
              </a:pPr>
              <a:r>
                <a:rPr lang="en-US" sz="5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Hardware Results and Conclusion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492102" y="3009900"/>
            <a:ext cx="10877921" cy="6118830"/>
          </a:xfrm>
          <a:custGeom>
            <a:avLst/>
            <a:gdLst/>
            <a:ahLst/>
            <a:cxnLst/>
            <a:rect l="l" t="t" r="r" b="b"/>
            <a:pathLst>
              <a:path w="10877921" h="6118830">
                <a:moveTo>
                  <a:pt x="0" y="0"/>
                </a:moveTo>
                <a:lnTo>
                  <a:pt x="10877921" y="0"/>
                </a:lnTo>
                <a:lnTo>
                  <a:pt x="10877921" y="6118830"/>
                </a:lnTo>
                <a:lnTo>
                  <a:pt x="0" y="6118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430000" y="2082165"/>
            <a:ext cx="6035040" cy="174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A=8001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B=0001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Y=0002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Operation=LSL (opcode 1100 )</a:t>
            </a:r>
          </a:p>
        </p:txBody>
      </p:sp>
      <p:sp>
        <p:nvSpPr>
          <p:cNvPr id="9" name="Flags card"/>
          <p:cNvSpPr/>
          <p:nvPr/>
        </p:nvSpPr>
        <p:spPr>
          <a:xfrm>
            <a:off x="11719560" y="4348407"/>
            <a:ext cx="6217920" cy="51873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Flags heading"/>
          <p:cNvSpPr txBox="1"/>
          <p:nvPr/>
        </p:nvSpPr>
        <p:spPr>
          <a:xfrm>
            <a:off x="12039600" y="4933950"/>
            <a:ext cx="5577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B1F3A"/>
                </a:solidFill>
                <a:latin typeface="Calibri"/>
              </a:rPr>
              <a:t>How the flags came out</a:t>
            </a:r>
          </a:p>
        </p:txBody>
      </p:sp>
      <p:sp>
        <p:nvSpPr>
          <p:cNvPr id="11" name="Flag Z"/>
          <p:cNvSpPr/>
          <p:nvPr/>
        </p:nvSpPr>
        <p:spPr>
          <a:xfrm>
            <a:off x="12039600" y="5574030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lag Z text"/>
          <p:cNvSpPr txBox="1"/>
          <p:nvPr/>
        </p:nvSpPr>
        <p:spPr>
          <a:xfrm>
            <a:off x="12039600" y="5574030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Z = 0</a:t>
            </a:r>
          </a:p>
        </p:txBody>
      </p:sp>
      <p:sp>
        <p:nvSpPr>
          <p:cNvPr id="13" name="Flag C"/>
          <p:cNvSpPr/>
          <p:nvPr/>
        </p:nvSpPr>
        <p:spPr>
          <a:xfrm>
            <a:off x="14902016" y="5587334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lag C text"/>
          <p:cNvSpPr txBox="1"/>
          <p:nvPr/>
        </p:nvSpPr>
        <p:spPr>
          <a:xfrm>
            <a:off x="14928072" y="5845964"/>
            <a:ext cx="1257300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600" b="1" dirty="0">
                <a:solidFill>
                  <a:srgbClr val="475569"/>
                </a:solidFill>
                <a:latin typeface="Calibri"/>
              </a:rPr>
              <a:t>V</a:t>
            </a:r>
            <a:r>
              <a:rPr sz="2600" b="1" dirty="0">
                <a:solidFill>
                  <a:srgbClr val="475569"/>
                </a:solidFill>
                <a:latin typeface="Calibri"/>
              </a:rPr>
              <a:t> = </a:t>
            </a:r>
            <a:r>
              <a:rPr lang="en-US" sz="2600" b="1" dirty="0">
                <a:solidFill>
                  <a:srgbClr val="475569"/>
                </a:solidFill>
                <a:latin typeface="Calibri"/>
              </a:rPr>
              <a:t>1</a:t>
            </a:r>
            <a:endParaRPr sz="2600" b="1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17" name="Flag N"/>
          <p:cNvSpPr/>
          <p:nvPr/>
        </p:nvSpPr>
        <p:spPr>
          <a:xfrm>
            <a:off x="16360140" y="5574030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Flag N text"/>
          <p:cNvSpPr txBox="1"/>
          <p:nvPr/>
        </p:nvSpPr>
        <p:spPr>
          <a:xfrm>
            <a:off x="16360140" y="5574030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N = 0</a:t>
            </a:r>
          </a:p>
        </p:txBody>
      </p:sp>
      <p:sp>
        <p:nvSpPr>
          <p:cNvPr id="19" name="Flags reason"/>
          <p:cNvSpPr txBox="1"/>
          <p:nvPr/>
        </p:nvSpPr>
        <p:spPr>
          <a:xfrm>
            <a:off x="12131038" y="6800975"/>
            <a:ext cx="5577840" cy="2215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/>
            <a:r>
              <a:rPr lang="en-IN" sz="2400" dirty="0"/>
              <a:t>Z = (Y == 0) = 0,because Y = 0002 is not zero.</a:t>
            </a:r>
          </a:p>
          <a:p>
            <a:pPr lvl="0"/>
            <a:r>
              <a:rPr lang="en-IN" sz="2400" dirty="0"/>
              <a:t>Shift amount = B[3:0] = 1. C = last bit shifted out = A[16-1] = A[15] = 1. </a:t>
            </a:r>
          </a:p>
          <a:p>
            <a:pPr lvl="0"/>
            <a:r>
              <a:rPr lang="en-IN" sz="2400" dirty="0"/>
              <a:t>A = 8001 has bit 15 set, and that bit is pushed out.</a:t>
            </a:r>
          </a:p>
          <a:p>
            <a:pPr lvl="0"/>
            <a:r>
              <a:rPr lang="en-IN" sz="2400" dirty="0"/>
              <a:t>V and N are always 0 for shifts.</a:t>
            </a:r>
          </a:p>
        </p:txBody>
      </p:sp>
      <p:sp>
        <p:nvSpPr>
          <p:cNvPr id="24" name="Flag V">
            <a:extLst>
              <a:ext uri="{FF2B5EF4-FFF2-40B4-BE49-F238E27FC236}">
                <a16:creationId xmlns:a16="http://schemas.microsoft.com/office/drawing/2014/main" id="{CDEB8CA1-F1A0-438A-30A4-521CCD9941FE}"/>
              </a:ext>
            </a:extLst>
          </p:cNvPr>
          <p:cNvSpPr/>
          <p:nvPr/>
        </p:nvSpPr>
        <p:spPr>
          <a:xfrm>
            <a:off x="13466996" y="5542353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Flag V text">
            <a:extLst>
              <a:ext uri="{FF2B5EF4-FFF2-40B4-BE49-F238E27FC236}">
                <a16:creationId xmlns:a16="http://schemas.microsoft.com/office/drawing/2014/main" id="{CFF349D9-330F-AD50-524C-8EB97A380575}"/>
              </a:ext>
            </a:extLst>
          </p:cNvPr>
          <p:cNvSpPr txBox="1"/>
          <p:nvPr/>
        </p:nvSpPr>
        <p:spPr>
          <a:xfrm>
            <a:off x="13440940" y="5775409"/>
            <a:ext cx="1257300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600" b="1" dirty="0">
                <a:solidFill>
                  <a:srgbClr val="FFFFFF"/>
                </a:solidFill>
                <a:latin typeface="Calibri"/>
              </a:rPr>
              <a:t>C </a:t>
            </a:r>
            <a:r>
              <a:rPr sz="2600" b="1" dirty="0">
                <a:solidFill>
                  <a:srgbClr val="FFFFFF"/>
                </a:solidFill>
                <a:latin typeface="Calibri"/>
              </a:rPr>
              <a:t>= 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219456"/>
            <a:ext cx="16459200" cy="1207008"/>
            <a:chOff x="0" y="0"/>
            <a:chExt cx="21945600" cy="16093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5705" b="-21570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21945600" cy="17331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39"/>
                </a:lnSpc>
              </a:pPr>
              <a:r>
                <a:rPr lang="en-US" sz="5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Hardware Results and Conclusion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718786" y="2676224"/>
            <a:ext cx="10754758" cy="6049551"/>
          </a:xfrm>
          <a:custGeom>
            <a:avLst/>
            <a:gdLst/>
            <a:ahLst/>
            <a:cxnLst/>
            <a:rect l="l" t="t" r="r" b="b"/>
            <a:pathLst>
              <a:path w="10754758" h="6049551">
                <a:moveTo>
                  <a:pt x="0" y="0"/>
                </a:moveTo>
                <a:lnTo>
                  <a:pt x="10754758" y="0"/>
                </a:lnTo>
                <a:lnTo>
                  <a:pt x="10754758" y="6049551"/>
                </a:lnTo>
                <a:lnTo>
                  <a:pt x="0" y="60495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799724" y="2908606"/>
            <a:ext cx="6035040" cy="174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A=0001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B=0004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Y=0010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Operation=LSL (opcode 1100 )</a:t>
            </a:r>
          </a:p>
        </p:txBody>
      </p:sp>
      <p:sp>
        <p:nvSpPr>
          <p:cNvPr id="9" name="Flags card"/>
          <p:cNvSpPr/>
          <p:nvPr/>
        </p:nvSpPr>
        <p:spPr>
          <a:xfrm>
            <a:off x="11799724" y="5286046"/>
            <a:ext cx="5848196" cy="436087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Flags heading"/>
          <p:cNvSpPr txBox="1"/>
          <p:nvPr/>
        </p:nvSpPr>
        <p:spPr>
          <a:xfrm>
            <a:off x="12119763" y="5514646"/>
            <a:ext cx="52081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B1F3A"/>
                </a:solidFill>
                <a:latin typeface="Calibri"/>
              </a:rPr>
              <a:t>How the flags came out</a:t>
            </a:r>
          </a:p>
        </p:txBody>
      </p:sp>
      <p:sp>
        <p:nvSpPr>
          <p:cNvPr id="11" name="Flag Z"/>
          <p:cNvSpPr/>
          <p:nvPr/>
        </p:nvSpPr>
        <p:spPr>
          <a:xfrm>
            <a:off x="12119763" y="6154726"/>
            <a:ext cx="1164869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lag Z text"/>
          <p:cNvSpPr txBox="1"/>
          <p:nvPr/>
        </p:nvSpPr>
        <p:spPr>
          <a:xfrm>
            <a:off x="12119763" y="6154726"/>
            <a:ext cx="1164869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Z = 0</a:t>
            </a:r>
          </a:p>
        </p:txBody>
      </p:sp>
      <p:sp>
        <p:nvSpPr>
          <p:cNvPr id="13" name="Flag C"/>
          <p:cNvSpPr/>
          <p:nvPr/>
        </p:nvSpPr>
        <p:spPr>
          <a:xfrm>
            <a:off x="13467512" y="6154726"/>
            <a:ext cx="1164869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lag C text"/>
          <p:cNvSpPr txBox="1"/>
          <p:nvPr/>
        </p:nvSpPr>
        <p:spPr>
          <a:xfrm>
            <a:off x="13467512" y="6154726"/>
            <a:ext cx="1164869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C = 0</a:t>
            </a:r>
          </a:p>
        </p:txBody>
      </p:sp>
      <p:sp>
        <p:nvSpPr>
          <p:cNvPr id="15" name="Flag V"/>
          <p:cNvSpPr/>
          <p:nvPr/>
        </p:nvSpPr>
        <p:spPr>
          <a:xfrm>
            <a:off x="14815262" y="6154726"/>
            <a:ext cx="1164869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lag V text"/>
          <p:cNvSpPr txBox="1"/>
          <p:nvPr/>
        </p:nvSpPr>
        <p:spPr>
          <a:xfrm>
            <a:off x="14815262" y="6154726"/>
            <a:ext cx="1164869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V = 0</a:t>
            </a:r>
          </a:p>
        </p:txBody>
      </p:sp>
      <p:sp>
        <p:nvSpPr>
          <p:cNvPr id="17" name="Flag N"/>
          <p:cNvSpPr/>
          <p:nvPr/>
        </p:nvSpPr>
        <p:spPr>
          <a:xfrm>
            <a:off x="16163011" y="6154726"/>
            <a:ext cx="1164869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Flag N text"/>
          <p:cNvSpPr txBox="1"/>
          <p:nvPr/>
        </p:nvSpPr>
        <p:spPr>
          <a:xfrm>
            <a:off x="16163011" y="6154726"/>
            <a:ext cx="1164869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N = 0</a:t>
            </a:r>
          </a:p>
        </p:txBody>
      </p:sp>
      <p:sp>
        <p:nvSpPr>
          <p:cNvPr id="19" name="Flags reason"/>
          <p:cNvSpPr txBox="1"/>
          <p:nvPr/>
        </p:nvSpPr>
        <p:spPr>
          <a:xfrm>
            <a:off x="12119763" y="7252005"/>
            <a:ext cx="5208116" cy="22577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475569"/>
                </a:solidFill>
                <a:latin typeface="Calibri"/>
              </a:rPr>
              <a:t>Z = (Y == 0) = 0.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75569"/>
                </a:solidFill>
                <a:latin typeface="Calibri"/>
              </a:rPr>
              <a:t>Shift amount = B[3:0] = 4. C = last bit shifted out = A[16-4] = 0.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75569"/>
                </a:solidFill>
                <a:latin typeface="Calibri"/>
              </a:rPr>
              <a:t>V and N are always 0.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219456"/>
            <a:ext cx="16459200" cy="1207008"/>
            <a:chOff x="0" y="0"/>
            <a:chExt cx="21945600" cy="16093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5705" b="-21570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21945600" cy="17331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39"/>
                </a:lnSpc>
              </a:pPr>
              <a:r>
                <a:rPr lang="en-US" sz="5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Hardware Results and Conclusion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283817" y="2848124"/>
            <a:ext cx="11233869" cy="6319052"/>
          </a:xfrm>
          <a:custGeom>
            <a:avLst/>
            <a:gdLst/>
            <a:ahLst/>
            <a:cxnLst/>
            <a:rect l="l" t="t" r="r" b="b"/>
            <a:pathLst>
              <a:path w="11233869" h="6319052">
                <a:moveTo>
                  <a:pt x="0" y="0"/>
                </a:moveTo>
                <a:lnTo>
                  <a:pt x="11233869" y="0"/>
                </a:lnTo>
                <a:lnTo>
                  <a:pt x="11233869" y="6319051"/>
                </a:lnTo>
                <a:lnTo>
                  <a:pt x="0" y="63190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430000" y="2082165"/>
            <a:ext cx="6035040" cy="174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A=0003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B=0001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Y=0001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Operation=LSR (opcode 1101)</a:t>
            </a:r>
          </a:p>
        </p:txBody>
      </p:sp>
      <p:sp>
        <p:nvSpPr>
          <p:cNvPr id="9" name="Flags card"/>
          <p:cNvSpPr/>
          <p:nvPr/>
        </p:nvSpPr>
        <p:spPr>
          <a:xfrm>
            <a:off x="11430000" y="4459605"/>
            <a:ext cx="6217920" cy="51873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Flags heading"/>
          <p:cNvSpPr txBox="1"/>
          <p:nvPr/>
        </p:nvSpPr>
        <p:spPr>
          <a:xfrm>
            <a:off x="11750040" y="4688205"/>
            <a:ext cx="5577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B1F3A"/>
                </a:solidFill>
                <a:latin typeface="Calibri"/>
              </a:rPr>
              <a:t>How the flags came out</a:t>
            </a:r>
          </a:p>
        </p:txBody>
      </p:sp>
      <p:sp>
        <p:nvSpPr>
          <p:cNvPr id="11" name="Flag Z"/>
          <p:cNvSpPr/>
          <p:nvPr/>
        </p:nvSpPr>
        <p:spPr>
          <a:xfrm>
            <a:off x="11750040" y="5328285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lag Z text"/>
          <p:cNvSpPr txBox="1"/>
          <p:nvPr/>
        </p:nvSpPr>
        <p:spPr>
          <a:xfrm>
            <a:off x="11750040" y="5328285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Z = 0</a:t>
            </a:r>
          </a:p>
        </p:txBody>
      </p:sp>
      <p:sp>
        <p:nvSpPr>
          <p:cNvPr id="13" name="Flag C"/>
          <p:cNvSpPr/>
          <p:nvPr/>
        </p:nvSpPr>
        <p:spPr>
          <a:xfrm>
            <a:off x="13190219" y="5328285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lag C text"/>
          <p:cNvSpPr txBox="1"/>
          <p:nvPr/>
        </p:nvSpPr>
        <p:spPr>
          <a:xfrm>
            <a:off x="13190219" y="5328285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C = 1</a:t>
            </a:r>
          </a:p>
        </p:txBody>
      </p:sp>
      <p:sp>
        <p:nvSpPr>
          <p:cNvPr id="15" name="Flag V"/>
          <p:cNvSpPr/>
          <p:nvPr/>
        </p:nvSpPr>
        <p:spPr>
          <a:xfrm>
            <a:off x="14630400" y="5328285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lag V text"/>
          <p:cNvSpPr txBox="1"/>
          <p:nvPr/>
        </p:nvSpPr>
        <p:spPr>
          <a:xfrm>
            <a:off x="14630400" y="5328285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V = 0</a:t>
            </a:r>
          </a:p>
        </p:txBody>
      </p:sp>
      <p:sp>
        <p:nvSpPr>
          <p:cNvPr id="17" name="Flag N"/>
          <p:cNvSpPr/>
          <p:nvPr/>
        </p:nvSpPr>
        <p:spPr>
          <a:xfrm>
            <a:off x="16070580" y="5328285"/>
            <a:ext cx="1257300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Flag N text"/>
          <p:cNvSpPr txBox="1"/>
          <p:nvPr/>
        </p:nvSpPr>
        <p:spPr>
          <a:xfrm>
            <a:off x="16070580" y="5328285"/>
            <a:ext cx="12573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N = 0</a:t>
            </a:r>
          </a:p>
        </p:txBody>
      </p:sp>
      <p:sp>
        <p:nvSpPr>
          <p:cNvPr id="19" name="Flags reason"/>
          <p:cNvSpPr txBox="1"/>
          <p:nvPr/>
        </p:nvSpPr>
        <p:spPr>
          <a:xfrm>
            <a:off x="11750040" y="6425565"/>
            <a:ext cx="5577840" cy="30841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475569"/>
                </a:solidFill>
                <a:latin typeface="Calibri"/>
              </a:rPr>
              <a:t>Z = (Y == 0) = 0.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75569"/>
                </a:solidFill>
                <a:latin typeface="Calibri"/>
              </a:rPr>
              <a:t>Shift amount = B[3:0] = 1. C = last bit shifted out = A[1-1] = 1.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75569"/>
                </a:solidFill>
                <a:latin typeface="Calibri"/>
              </a:rPr>
              <a:t>V and N are always 0.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219456"/>
            <a:ext cx="16459200" cy="1207008"/>
            <a:chOff x="0" y="0"/>
            <a:chExt cx="21945600" cy="16093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5705" b="-21570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21945600" cy="17331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39"/>
                </a:lnSpc>
              </a:pPr>
              <a:r>
                <a:rPr lang="en-US" sz="5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Hardware Results and Conclusion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914522" y="2755123"/>
            <a:ext cx="10266354" cy="5774824"/>
          </a:xfrm>
          <a:custGeom>
            <a:avLst/>
            <a:gdLst/>
            <a:ahLst/>
            <a:cxnLst/>
            <a:rect l="l" t="t" r="r" b="b"/>
            <a:pathLst>
              <a:path w="10266354" h="5774824">
                <a:moveTo>
                  <a:pt x="0" y="0"/>
                </a:moveTo>
                <a:lnTo>
                  <a:pt x="10266354" y="0"/>
                </a:lnTo>
                <a:lnTo>
                  <a:pt x="10266354" y="5774824"/>
                </a:lnTo>
                <a:lnTo>
                  <a:pt x="0" y="57748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799724" y="2908606"/>
            <a:ext cx="6035040" cy="174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A=1234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B=0004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Y=2341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Operation=ROL (opcode 1110 )</a:t>
            </a:r>
          </a:p>
        </p:txBody>
      </p:sp>
      <p:sp>
        <p:nvSpPr>
          <p:cNvPr id="9" name="Flags card"/>
          <p:cNvSpPr/>
          <p:nvPr/>
        </p:nvSpPr>
        <p:spPr>
          <a:xfrm>
            <a:off x="11799724" y="5286046"/>
            <a:ext cx="5848196" cy="436087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Flags heading"/>
          <p:cNvSpPr txBox="1"/>
          <p:nvPr/>
        </p:nvSpPr>
        <p:spPr>
          <a:xfrm>
            <a:off x="12119763" y="5514646"/>
            <a:ext cx="52081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B1F3A"/>
                </a:solidFill>
                <a:latin typeface="Calibri"/>
              </a:rPr>
              <a:t>How the flags came out</a:t>
            </a:r>
          </a:p>
        </p:txBody>
      </p:sp>
      <p:sp>
        <p:nvSpPr>
          <p:cNvPr id="11" name="Flag Z"/>
          <p:cNvSpPr/>
          <p:nvPr/>
        </p:nvSpPr>
        <p:spPr>
          <a:xfrm>
            <a:off x="12119763" y="6154726"/>
            <a:ext cx="1164869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lag Z text"/>
          <p:cNvSpPr txBox="1"/>
          <p:nvPr/>
        </p:nvSpPr>
        <p:spPr>
          <a:xfrm>
            <a:off x="12119763" y="6154726"/>
            <a:ext cx="1164869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Z = 0</a:t>
            </a:r>
          </a:p>
        </p:txBody>
      </p:sp>
      <p:sp>
        <p:nvSpPr>
          <p:cNvPr id="13" name="Flag C"/>
          <p:cNvSpPr/>
          <p:nvPr/>
        </p:nvSpPr>
        <p:spPr>
          <a:xfrm>
            <a:off x="13467512" y="6154726"/>
            <a:ext cx="1164869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lag C text"/>
          <p:cNvSpPr txBox="1"/>
          <p:nvPr/>
        </p:nvSpPr>
        <p:spPr>
          <a:xfrm>
            <a:off x="13467512" y="6154726"/>
            <a:ext cx="1164869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C = 0</a:t>
            </a:r>
          </a:p>
        </p:txBody>
      </p:sp>
      <p:sp>
        <p:nvSpPr>
          <p:cNvPr id="15" name="Flag V"/>
          <p:cNvSpPr/>
          <p:nvPr/>
        </p:nvSpPr>
        <p:spPr>
          <a:xfrm>
            <a:off x="14815262" y="6154726"/>
            <a:ext cx="1164869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lag V text"/>
          <p:cNvSpPr txBox="1"/>
          <p:nvPr/>
        </p:nvSpPr>
        <p:spPr>
          <a:xfrm>
            <a:off x="14815262" y="6154726"/>
            <a:ext cx="1164869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V = 0</a:t>
            </a:r>
          </a:p>
        </p:txBody>
      </p:sp>
      <p:sp>
        <p:nvSpPr>
          <p:cNvPr id="17" name="Flag N"/>
          <p:cNvSpPr/>
          <p:nvPr/>
        </p:nvSpPr>
        <p:spPr>
          <a:xfrm>
            <a:off x="16163011" y="6154726"/>
            <a:ext cx="1164869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Flag N text"/>
          <p:cNvSpPr txBox="1"/>
          <p:nvPr/>
        </p:nvSpPr>
        <p:spPr>
          <a:xfrm>
            <a:off x="16163011" y="6154726"/>
            <a:ext cx="1164869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N = 0</a:t>
            </a:r>
          </a:p>
        </p:txBody>
      </p:sp>
      <p:sp>
        <p:nvSpPr>
          <p:cNvPr id="19" name="Flags reason"/>
          <p:cNvSpPr txBox="1"/>
          <p:nvPr/>
        </p:nvSpPr>
        <p:spPr>
          <a:xfrm>
            <a:off x="12119763" y="7252005"/>
            <a:ext cx="5208116" cy="22577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475569"/>
                </a:solidFill>
                <a:latin typeface="Calibri"/>
              </a:rPr>
              <a:t>Z = (Y == 0) = 0.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75569"/>
                </a:solidFill>
                <a:latin typeface="Calibri"/>
              </a:rPr>
              <a:t>Rotate left by B[3:0] = 4: bits wrap around, none are lost.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75569"/>
                </a:solidFill>
                <a:latin typeface="Calibri"/>
              </a:rPr>
              <a:t>Rotates force C = V = N = 0.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45920"/>
            <a:chOff x="0" y="0"/>
            <a:chExt cx="24384000" cy="2194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194560"/>
            </a:xfrm>
            <a:custGeom>
              <a:avLst/>
              <a:gdLst/>
              <a:ahLst/>
              <a:cxnLst/>
              <a:rect l="l" t="t" r="r" b="b"/>
              <a:pathLst>
                <a:path w="24384000" h="219456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219456"/>
            <a:ext cx="16459200" cy="1207008"/>
            <a:chOff x="0" y="0"/>
            <a:chExt cx="21945600" cy="16093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5705" b="-21570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21945600" cy="17331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39"/>
                </a:lnSpc>
              </a:pPr>
              <a:r>
                <a:rPr lang="en-US" sz="5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Hardware Results and Conclusion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283817" y="2851006"/>
            <a:ext cx="10820842" cy="6086724"/>
          </a:xfrm>
          <a:custGeom>
            <a:avLst/>
            <a:gdLst/>
            <a:ahLst/>
            <a:cxnLst/>
            <a:rect l="l" t="t" r="r" b="b"/>
            <a:pathLst>
              <a:path w="10820842" h="6086724">
                <a:moveTo>
                  <a:pt x="0" y="0"/>
                </a:moveTo>
                <a:lnTo>
                  <a:pt x="10820842" y="0"/>
                </a:lnTo>
                <a:lnTo>
                  <a:pt x="10820842" y="6086724"/>
                </a:lnTo>
                <a:lnTo>
                  <a:pt x="0" y="60867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473497" y="2952103"/>
            <a:ext cx="6035040" cy="174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A=0003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B=0001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Y=8001</a:t>
            </a:r>
          </a:p>
          <a:p>
            <a:pPr marL="675639" lvl="1" indent="-33782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B1F3A"/>
                </a:solidFill>
                <a:latin typeface="Calibri (MS)"/>
                <a:ea typeface="Calibri (MS)"/>
                <a:cs typeface="Calibri (MS)"/>
                <a:sym typeface="Calibri (MS)"/>
              </a:rPr>
              <a:t>Operation=ROR (opcode 1111)</a:t>
            </a:r>
          </a:p>
        </p:txBody>
      </p:sp>
      <p:sp>
        <p:nvSpPr>
          <p:cNvPr id="9" name="Flags card"/>
          <p:cNvSpPr/>
          <p:nvPr/>
        </p:nvSpPr>
        <p:spPr>
          <a:xfrm>
            <a:off x="11473497" y="5329543"/>
            <a:ext cx="6174423" cy="431737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Flags heading"/>
          <p:cNvSpPr txBox="1"/>
          <p:nvPr/>
        </p:nvSpPr>
        <p:spPr>
          <a:xfrm>
            <a:off x="11793537" y="5558143"/>
            <a:ext cx="553434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B1F3A"/>
                </a:solidFill>
                <a:latin typeface="Calibri"/>
              </a:rPr>
              <a:t>How the flags came out</a:t>
            </a:r>
          </a:p>
        </p:txBody>
      </p:sp>
      <p:sp>
        <p:nvSpPr>
          <p:cNvPr id="11" name="Flag Z"/>
          <p:cNvSpPr/>
          <p:nvPr/>
        </p:nvSpPr>
        <p:spPr>
          <a:xfrm>
            <a:off x="11793537" y="6198223"/>
            <a:ext cx="1246425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lag Z text"/>
          <p:cNvSpPr txBox="1"/>
          <p:nvPr/>
        </p:nvSpPr>
        <p:spPr>
          <a:xfrm>
            <a:off x="11793537" y="6198223"/>
            <a:ext cx="124642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Z = 0</a:t>
            </a:r>
          </a:p>
        </p:txBody>
      </p:sp>
      <p:sp>
        <p:nvSpPr>
          <p:cNvPr id="13" name="Flag C"/>
          <p:cNvSpPr/>
          <p:nvPr/>
        </p:nvSpPr>
        <p:spPr>
          <a:xfrm>
            <a:off x="13222842" y="6198223"/>
            <a:ext cx="1246425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lag C text"/>
          <p:cNvSpPr txBox="1"/>
          <p:nvPr/>
        </p:nvSpPr>
        <p:spPr>
          <a:xfrm>
            <a:off x="13222842" y="6198223"/>
            <a:ext cx="124642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C = 0</a:t>
            </a:r>
          </a:p>
        </p:txBody>
      </p:sp>
      <p:sp>
        <p:nvSpPr>
          <p:cNvPr id="15" name="Flag V"/>
          <p:cNvSpPr/>
          <p:nvPr/>
        </p:nvSpPr>
        <p:spPr>
          <a:xfrm>
            <a:off x="14652148" y="6198223"/>
            <a:ext cx="1246425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lag V text"/>
          <p:cNvSpPr txBox="1"/>
          <p:nvPr/>
        </p:nvSpPr>
        <p:spPr>
          <a:xfrm>
            <a:off x="14652148" y="6198223"/>
            <a:ext cx="124642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V = 0</a:t>
            </a:r>
          </a:p>
        </p:txBody>
      </p:sp>
      <p:sp>
        <p:nvSpPr>
          <p:cNvPr id="17" name="Flag N"/>
          <p:cNvSpPr/>
          <p:nvPr/>
        </p:nvSpPr>
        <p:spPr>
          <a:xfrm>
            <a:off x="16081454" y="6198223"/>
            <a:ext cx="1246425" cy="868680"/>
          </a:xfrm>
          <a:prstGeom prst="roundRect">
            <a:avLst>
              <a:gd name="adj" fmla="val 1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Flag N text"/>
          <p:cNvSpPr txBox="1"/>
          <p:nvPr/>
        </p:nvSpPr>
        <p:spPr>
          <a:xfrm>
            <a:off x="16081454" y="6198223"/>
            <a:ext cx="124642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475569"/>
                </a:solidFill>
                <a:latin typeface="Calibri"/>
              </a:rPr>
              <a:t>N = 0</a:t>
            </a:r>
          </a:p>
        </p:txBody>
      </p:sp>
      <p:sp>
        <p:nvSpPr>
          <p:cNvPr id="19" name="Flags reason"/>
          <p:cNvSpPr txBox="1"/>
          <p:nvPr/>
        </p:nvSpPr>
        <p:spPr>
          <a:xfrm>
            <a:off x="11793537" y="7295502"/>
            <a:ext cx="5534343" cy="22142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475569"/>
                </a:solidFill>
                <a:latin typeface="Calibri"/>
              </a:rPr>
              <a:t>Z = (Y == 0) = 0.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75569"/>
                </a:solidFill>
                <a:latin typeface="Calibri"/>
              </a:rPr>
              <a:t>Rotate right by B[3:0] = 1: bits wrap around, none are lost.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75569"/>
                </a:solidFill>
                <a:latin typeface="Calibri"/>
              </a:rPr>
              <a:t>Rotates force C = V = N = 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2273</Words>
  <Application>Microsoft Office PowerPoint</Application>
  <PresentationFormat>Custom</PresentationFormat>
  <Paragraphs>392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Calibri (MS)</vt:lpstr>
      <vt:lpstr>Consolas</vt:lpstr>
      <vt:lpstr>Calibri (MS) Bold</vt:lpstr>
      <vt:lpstr>Arial</vt:lpstr>
      <vt:lpstr>Agrandir Bold</vt:lpstr>
      <vt:lpstr>Calibri (MS) Italics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Cloudlet Tech</dc:title>
  <dc:creator>Sankirth Reddy</dc:creator>
  <cp:lastModifiedBy>sankirth reddy</cp:lastModifiedBy>
  <cp:revision>5</cp:revision>
  <dcterms:created xsi:type="dcterms:W3CDTF">2006-08-16T00:00:00Z</dcterms:created>
  <dcterms:modified xsi:type="dcterms:W3CDTF">2026-10-12T18:19:02Z</dcterms:modified>
  <dc:identifier>DAHXz-JUud0</dc:identifier>
</cp:coreProperties>
</file>